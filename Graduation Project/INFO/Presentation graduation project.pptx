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303" r:id="rId3"/>
    <p:sldId id="257" r:id="rId4"/>
    <p:sldId id="258" r:id="rId5"/>
    <p:sldId id="259" r:id="rId6"/>
    <p:sldId id="260" r:id="rId7"/>
    <p:sldId id="262" r:id="rId8"/>
    <p:sldId id="263" r:id="rId9"/>
    <p:sldId id="316" r:id="rId10"/>
    <p:sldId id="314" r:id="rId11"/>
    <p:sldId id="317" r:id="rId12"/>
    <p:sldId id="320" r:id="rId13"/>
    <p:sldId id="319" r:id="rId14"/>
    <p:sldId id="318" r:id="rId15"/>
  </p:sldIdLst>
  <p:sldSz cx="18288000" cy="10287000"/>
  <p:notesSz cx="6858000" cy="9144000"/>
  <p:embeddedFontLst>
    <p:embeddedFont>
      <p:font typeface="Canva Sans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82" autoAdjust="0"/>
    <p:restoredTop sz="94622" autoAdjust="0"/>
  </p:normalViewPr>
  <p:slideViewPr>
    <p:cSldViewPr>
      <p:cViewPr>
        <p:scale>
          <a:sx n="50" d="100"/>
          <a:sy n="50" d="100"/>
        </p:scale>
        <p:origin x="200"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01.04.2026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F314E-E8B8-F1AB-DB75-D2009FED5E9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7C81D4C-C0D6-8D33-E955-89EEACD4A4F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A54BDC6-54C1-D469-974E-6C24486CE97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4AAA4C5-7A4E-A704-52DF-3A80438CC45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BD9B53A-8E2C-9B20-6219-944C742DA57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07E7B91F-6F31-13B4-255A-22FC164CE17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BB1628E-32CF-2ADF-FD18-15678C6C8E3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60467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EC6B6-ED92-AB18-588B-816917A03D1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070292C-2CA6-9B76-5125-E390F5FFE05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BCAA3F1-635F-F99B-452A-2B25E91F9C5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976E567-DD57-0345-169C-31F9DF82AA9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DA0076F-A9DD-6F3A-2052-AFAF3CBFBBB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4439F1B2-1D24-2FEA-4302-6D196B05AAA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5D7CF2F-B590-7AAB-CDDA-197310EBC85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715139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81FBD-CE1A-1BFF-78F3-241893E8B8E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17CF12-E2A5-A9E4-8538-8C84D6EE0C6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75D7D31-C6C6-2B77-49A0-B98ADAEA1F7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ABE843F-1945-6EFB-9081-77614FE024B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44D0023-BF80-62BA-C952-BD2AB2D855C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259DDB99-B379-EC5A-2A05-A99A22CF30C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8B4FDF5-22AF-C7B1-3E60-5BDDF7C908F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49268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5ED48-B92F-8ED7-BA56-AF4F11BBE14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E5BB680-C05D-9959-7632-AE72B7F87A5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F0B9885-CCBE-882C-A676-6931B137E35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125AEAE-C593-0AA2-5965-A2431B35156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1363765-8A18-0A55-C8AF-D8377725C64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DD44FFF0-7991-81AA-E0B3-8B68A01DC71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5D36268-CDBC-863B-9601-67C4D33B5E8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283956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6.png"/><Relationship Id="rId12" Type="http://schemas.openxmlformats.org/officeDocument/2006/relationships/image" Target="../media/image11.jpeg"/><Relationship Id="rId17" Type="http://schemas.openxmlformats.org/officeDocument/2006/relationships/image" Target="../media/image16.png"/><Relationship Id="rId2" Type="http://schemas.openxmlformats.org/officeDocument/2006/relationships/notesSlide" Target="../notesSlides/notesSlide2.xml"/><Relationship Id="rId16"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jpeg"/><Relationship Id="rId11" Type="http://schemas.openxmlformats.org/officeDocument/2006/relationships/image" Target="../media/image10.png"/><Relationship Id="rId5" Type="http://schemas.openxmlformats.org/officeDocument/2006/relationships/image" Target="../media/image3.png"/><Relationship Id="rId15" Type="http://schemas.openxmlformats.org/officeDocument/2006/relationships/image" Target="../media/image14.png"/><Relationship Id="rId10" Type="http://schemas.openxmlformats.org/officeDocument/2006/relationships/image" Target="../media/image9.jpeg"/><Relationship Id="rId4" Type="http://schemas.openxmlformats.org/officeDocument/2006/relationships/image" Target="../media/image2.png"/><Relationship Id="rId9" Type="http://schemas.openxmlformats.org/officeDocument/2006/relationships/image" Target="../media/image8.jp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23.jpeg"/><Relationship Id="rId13"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22.jpeg"/><Relationship Id="rId12"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1.jpeg"/><Relationship Id="rId11" Type="http://schemas.openxmlformats.org/officeDocument/2006/relationships/image" Target="../media/image26.png"/><Relationship Id="rId5" Type="http://schemas.openxmlformats.org/officeDocument/2006/relationships/image" Target="../media/image3.png"/><Relationship Id="rId10" Type="http://schemas.openxmlformats.org/officeDocument/2006/relationships/image" Target="../media/image25.jpeg"/><Relationship Id="rId4" Type="http://schemas.openxmlformats.org/officeDocument/2006/relationships/image" Target="../media/image2.png"/><Relationship Id="rId9" Type="http://schemas.openxmlformats.org/officeDocument/2006/relationships/image" Target="../media/image24.jpeg"/></Relationships>
</file>

<file path=ppt/slides/_rels/slide11.xml.rels><?xml version="1.0" encoding="UTF-8" standalone="yes"?>
<Relationships xmlns="http://schemas.openxmlformats.org/package/2006/relationships"><Relationship Id="rId8" Type="http://schemas.openxmlformats.org/officeDocument/2006/relationships/image" Target="../media/image23.jpeg"/><Relationship Id="rId13"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22.jpeg"/><Relationship Id="rId12" Type="http://schemas.openxmlformats.org/officeDocument/2006/relationships/image" Target="../media/image27.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1.jpeg"/><Relationship Id="rId11" Type="http://schemas.openxmlformats.org/officeDocument/2006/relationships/image" Target="../media/image26.png"/><Relationship Id="rId5" Type="http://schemas.openxmlformats.org/officeDocument/2006/relationships/image" Target="../media/image3.png"/><Relationship Id="rId10" Type="http://schemas.openxmlformats.org/officeDocument/2006/relationships/image" Target="../media/image25.jpeg"/><Relationship Id="rId4" Type="http://schemas.openxmlformats.org/officeDocument/2006/relationships/image" Target="../media/image2.png"/><Relationship Id="rId9" Type="http://schemas.openxmlformats.org/officeDocument/2006/relationships/image" Target="../media/image24.jpeg"/></Relationships>
</file>

<file path=ppt/slides/_rels/slide12.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png"/><Relationship Id="rId7" Type="http://schemas.openxmlformats.org/officeDocument/2006/relationships/image" Target="../media/image22.jpeg"/><Relationship Id="rId12"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1.jpeg"/><Relationship Id="rId11" Type="http://schemas.openxmlformats.org/officeDocument/2006/relationships/image" Target="../media/image26.png"/><Relationship Id="rId5" Type="http://schemas.openxmlformats.org/officeDocument/2006/relationships/image" Target="../media/image3.png"/><Relationship Id="rId10" Type="http://schemas.openxmlformats.org/officeDocument/2006/relationships/image" Target="../media/image25.jpeg"/><Relationship Id="rId4" Type="http://schemas.openxmlformats.org/officeDocument/2006/relationships/image" Target="../media/image2.png"/><Relationship Id="rId9" Type="http://schemas.openxmlformats.org/officeDocument/2006/relationships/image" Target="../media/image24.jpeg"/></Relationships>
</file>

<file path=ppt/slides/_rels/slide13.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png"/><Relationship Id="rId7" Type="http://schemas.openxmlformats.org/officeDocument/2006/relationships/image" Target="../media/image22.jpeg"/><Relationship Id="rId12"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1.jpeg"/><Relationship Id="rId11" Type="http://schemas.openxmlformats.org/officeDocument/2006/relationships/image" Target="../media/image26.png"/><Relationship Id="rId5" Type="http://schemas.openxmlformats.org/officeDocument/2006/relationships/image" Target="../media/image3.png"/><Relationship Id="rId10" Type="http://schemas.openxmlformats.org/officeDocument/2006/relationships/image" Target="../media/image25.jpeg"/><Relationship Id="rId4" Type="http://schemas.openxmlformats.org/officeDocument/2006/relationships/image" Target="../media/image2.png"/><Relationship Id="rId9" Type="http://schemas.openxmlformats.org/officeDocument/2006/relationships/image" Target="../media/image24.jpeg"/></Relationships>
</file>

<file path=ppt/slides/_rels/slide14.xml.rels><?xml version="1.0" encoding="UTF-8" standalone="yes"?>
<Relationships xmlns="http://schemas.openxmlformats.org/package/2006/relationships"><Relationship Id="rId8" Type="http://schemas.openxmlformats.org/officeDocument/2006/relationships/image" Target="../media/image23.jpeg"/><Relationship Id="rId13"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22.jpeg"/><Relationship Id="rId12"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1.jpeg"/><Relationship Id="rId11" Type="http://schemas.openxmlformats.org/officeDocument/2006/relationships/image" Target="../media/image26.png"/><Relationship Id="rId5" Type="http://schemas.openxmlformats.org/officeDocument/2006/relationships/image" Target="../media/image3.png"/><Relationship Id="rId10" Type="http://schemas.openxmlformats.org/officeDocument/2006/relationships/image" Target="../media/image25.jpeg"/><Relationship Id="rId4" Type="http://schemas.openxmlformats.org/officeDocument/2006/relationships/image" Target="../media/image2.png"/><Relationship Id="rId9"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dirty="0"/>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sp>
        <p:nvSpPr>
          <p:cNvPr id="6" name="TextBox 6"/>
          <p:cNvSpPr txBox="1"/>
          <p:nvPr/>
        </p:nvSpPr>
        <p:spPr>
          <a:xfrm>
            <a:off x="4800600" y="3455654"/>
            <a:ext cx="9243655" cy="1459246"/>
          </a:xfrm>
          <a:prstGeom prst="rect">
            <a:avLst/>
          </a:prstGeom>
        </p:spPr>
        <p:txBody>
          <a:bodyPr wrap="square" lIns="0" tIns="0" rIns="0" bIns="0" rtlCol="0" anchor="t">
            <a:spAutoFit/>
          </a:bodyPr>
          <a:lstStyle/>
          <a:p>
            <a:pPr algn="ctr">
              <a:lnSpc>
                <a:spcPts val="12880"/>
              </a:lnSpc>
            </a:pPr>
            <a:r>
              <a:rPr lang="en-US" sz="6600" b="1" dirty="0">
                <a:solidFill>
                  <a:srgbClr val="336EA8"/>
                </a:solidFill>
                <a:latin typeface="Canva Sans Bold"/>
                <a:ea typeface="Canva Sans Bold"/>
                <a:cs typeface="Canva Sans Bold"/>
                <a:sym typeface="Canva Sans Bold"/>
              </a:rPr>
              <a:t>Manufacturing Project</a:t>
            </a:r>
          </a:p>
        </p:txBody>
      </p:sp>
      <p:sp>
        <p:nvSpPr>
          <p:cNvPr id="7" name="TextBox 7"/>
          <p:cNvSpPr txBox="1"/>
          <p:nvPr/>
        </p:nvSpPr>
        <p:spPr>
          <a:xfrm>
            <a:off x="5334000" y="5372100"/>
            <a:ext cx="7153167" cy="610873"/>
          </a:xfrm>
          <a:prstGeom prst="rect">
            <a:avLst/>
          </a:prstGeom>
        </p:spPr>
        <p:txBody>
          <a:bodyPr wrap="square" lIns="0" tIns="0" rIns="0" bIns="0" rtlCol="0" anchor="t">
            <a:spAutoFit/>
          </a:bodyPr>
          <a:lstStyle/>
          <a:p>
            <a:pPr algn="ctr">
              <a:lnSpc>
                <a:spcPts val="5090"/>
              </a:lnSpc>
            </a:pPr>
            <a:endParaRPr lang="en-US" sz="3635" b="1" dirty="0">
              <a:solidFill>
                <a:srgbClr val="0FAB7D"/>
              </a:solidFill>
              <a:latin typeface="Canva Sans Bold"/>
              <a:ea typeface="Canva Sans Bold"/>
              <a:cs typeface="Canva Sans Bold"/>
              <a:sym typeface="Canva Sans Bold"/>
            </a:endParaRPr>
          </a:p>
        </p:txBody>
      </p:sp>
      <p:pic>
        <p:nvPicPr>
          <p:cNvPr id="12" name="Picture 11">
            <a:extLst>
              <a:ext uri="{FF2B5EF4-FFF2-40B4-BE49-F238E27FC236}">
                <a16:creationId xmlns:a16="http://schemas.microsoft.com/office/drawing/2014/main" id="{C1E39C4C-F460-27CF-2A2B-C769387F776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38" name="Group 38"/>
          <p:cNvGrpSpPr/>
          <p:nvPr/>
        </p:nvGrpSpPr>
        <p:grpSpPr>
          <a:xfrm>
            <a:off x="1232020" y="1935294"/>
            <a:ext cx="16125577" cy="7037404"/>
            <a:chOff x="-18015994" y="-192881"/>
            <a:chExt cx="21500772" cy="9383206"/>
          </a:xfrm>
        </p:grpSpPr>
        <p:sp>
          <p:nvSpPr>
            <p:cNvPr id="41" name="TextBox 41"/>
            <p:cNvSpPr txBox="1"/>
            <p:nvPr/>
          </p:nvSpPr>
          <p:spPr>
            <a:xfrm>
              <a:off x="43898" y="-192881"/>
              <a:ext cx="3440880" cy="9383206"/>
            </a:xfrm>
            <a:prstGeom prst="rect">
              <a:avLst/>
            </a:prstGeom>
          </p:spPr>
          <p:txBody>
            <a:bodyPr lIns="50800" tIns="50800" rIns="50800" bIns="50800" rtlCol="0" anchor="ctr"/>
            <a:lstStyle/>
            <a:p>
              <a:pPr algn="ctr">
                <a:lnSpc>
                  <a:spcPts val="2879"/>
                </a:lnSpc>
              </a:pPr>
              <a:endParaRPr/>
            </a:p>
          </p:txBody>
        </p:sp>
        <p:grpSp>
          <p:nvGrpSpPr>
            <p:cNvPr id="42" name="Group 42"/>
            <p:cNvGrpSpPr/>
            <p:nvPr/>
          </p:nvGrpSpPr>
          <p:grpSpPr>
            <a:xfrm>
              <a:off x="-18015994" y="3193468"/>
              <a:ext cx="2803393" cy="2803393"/>
              <a:chOff x="-33772908" y="1504240"/>
              <a:chExt cx="5255260" cy="5255259"/>
            </a:xfrm>
          </p:grpSpPr>
          <p:sp>
            <p:nvSpPr>
              <p:cNvPr id="43" name="Freeform 43"/>
              <p:cNvSpPr/>
              <p:nvPr/>
            </p:nvSpPr>
            <p:spPr>
              <a:xfrm>
                <a:off x="-33772908" y="1504240"/>
                <a:ext cx="5255260" cy="5255259"/>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a:stretch>
              </a:blipFill>
            </p:spPr>
            <p:txBody>
              <a:bodyPr/>
              <a:lstStyle/>
              <a:p>
                <a:endParaRPr lang="en-US"/>
              </a:p>
            </p:txBody>
          </p:sp>
        </p:grpSp>
      </p:grpSp>
      <p:sp>
        <p:nvSpPr>
          <p:cNvPr id="44" name="TextBox 44"/>
          <p:cNvSpPr txBox="1"/>
          <p:nvPr/>
        </p:nvSpPr>
        <p:spPr>
          <a:xfrm>
            <a:off x="5402536" y="681423"/>
            <a:ext cx="7377446" cy="770535"/>
          </a:xfrm>
          <a:prstGeom prst="rect">
            <a:avLst/>
          </a:prstGeom>
        </p:spPr>
        <p:txBody>
          <a:bodyPr lIns="0" tIns="0" rIns="0" bIns="0" rtlCol="0" anchor="t">
            <a:spAutoFit/>
          </a:bodyPr>
          <a:lstStyle/>
          <a:p>
            <a:pPr algn="ctr">
              <a:lnSpc>
                <a:spcPts val="6354"/>
              </a:lnSpc>
            </a:pPr>
            <a:r>
              <a:rPr lang="en-US" sz="4538" b="1" dirty="0">
                <a:solidFill>
                  <a:srgbClr val="336EA8"/>
                </a:solidFill>
                <a:latin typeface="Canva Sans Bold"/>
                <a:ea typeface="Canva Sans Bold"/>
                <a:cs typeface="Canva Sans Bold"/>
                <a:sym typeface="Canva Sans Bold"/>
              </a:rPr>
              <a:t>Project Team</a:t>
            </a:r>
          </a:p>
        </p:txBody>
      </p:sp>
      <p:pic>
        <p:nvPicPr>
          <p:cNvPr id="46" name="Picture 45">
            <a:extLst>
              <a:ext uri="{FF2B5EF4-FFF2-40B4-BE49-F238E27FC236}">
                <a16:creationId xmlns:a16="http://schemas.microsoft.com/office/drawing/2014/main" id="{75881286-8FD7-A2C3-C25A-39387DD2C03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412" y="8972698"/>
            <a:ext cx="1402926" cy="1402926"/>
          </a:xfrm>
          <a:prstGeom prst="rect">
            <a:avLst/>
          </a:prstGeom>
        </p:spPr>
      </p:pic>
      <p:grpSp>
        <p:nvGrpSpPr>
          <p:cNvPr id="6" name="Group 6"/>
          <p:cNvGrpSpPr/>
          <p:nvPr/>
        </p:nvGrpSpPr>
        <p:grpSpPr>
          <a:xfrm>
            <a:off x="139976" y="1689812"/>
            <a:ext cx="17854156" cy="7568488"/>
            <a:chOff x="0" y="0"/>
            <a:chExt cx="5798675" cy="2578157"/>
          </a:xfrm>
        </p:grpSpPr>
        <p:sp>
          <p:nvSpPr>
            <p:cNvPr id="7" name="Freeform 7"/>
            <p:cNvSpPr/>
            <p:nvPr/>
          </p:nvSpPr>
          <p:spPr>
            <a:xfrm>
              <a:off x="0" y="0"/>
              <a:ext cx="5798676" cy="2578157"/>
            </a:xfrm>
            <a:custGeom>
              <a:avLst/>
              <a:gdLst/>
              <a:ahLst/>
              <a:cxnLst/>
              <a:rect l="l" t="t" r="r" b="b"/>
              <a:pathLst>
                <a:path w="5798676" h="2578157">
                  <a:moveTo>
                    <a:pt x="23195" y="0"/>
                  </a:moveTo>
                  <a:lnTo>
                    <a:pt x="5775481" y="0"/>
                  </a:lnTo>
                  <a:cubicBezTo>
                    <a:pt x="5781632" y="0"/>
                    <a:pt x="5787532" y="2444"/>
                    <a:pt x="5791882" y="6794"/>
                  </a:cubicBezTo>
                  <a:cubicBezTo>
                    <a:pt x="5796232" y="11143"/>
                    <a:pt x="5798676" y="17043"/>
                    <a:pt x="5798676" y="23195"/>
                  </a:cubicBezTo>
                  <a:lnTo>
                    <a:pt x="5798676" y="2554962"/>
                  </a:lnTo>
                  <a:cubicBezTo>
                    <a:pt x="5798676" y="2561113"/>
                    <a:pt x="5796232" y="2567013"/>
                    <a:pt x="5791882" y="2571363"/>
                  </a:cubicBezTo>
                  <a:cubicBezTo>
                    <a:pt x="5787532" y="2575713"/>
                    <a:pt x="5781632" y="2578157"/>
                    <a:pt x="5775481" y="2578157"/>
                  </a:cubicBezTo>
                  <a:lnTo>
                    <a:pt x="23195" y="2578157"/>
                  </a:lnTo>
                  <a:cubicBezTo>
                    <a:pt x="17043" y="2578157"/>
                    <a:pt x="11143" y="2575713"/>
                    <a:pt x="6794" y="2571363"/>
                  </a:cubicBezTo>
                  <a:cubicBezTo>
                    <a:pt x="2444" y="2567013"/>
                    <a:pt x="0" y="2561113"/>
                    <a:pt x="0" y="2554962"/>
                  </a:cubicBezTo>
                  <a:lnTo>
                    <a:pt x="0" y="23195"/>
                  </a:lnTo>
                  <a:cubicBezTo>
                    <a:pt x="0" y="17043"/>
                    <a:pt x="2444" y="11143"/>
                    <a:pt x="6794" y="6794"/>
                  </a:cubicBezTo>
                  <a:cubicBezTo>
                    <a:pt x="11143" y="2444"/>
                    <a:pt x="17043" y="0"/>
                    <a:pt x="23195" y="0"/>
                  </a:cubicBezTo>
                  <a:close/>
                </a:path>
              </a:pathLst>
            </a:custGeom>
            <a:solidFill>
              <a:srgbClr val="84E4A8"/>
            </a:solidFill>
          </p:spPr>
          <p:txBody>
            <a:bodyPr/>
            <a:lstStyle/>
            <a:p>
              <a:endParaRPr lang="en-US" dirty="0"/>
            </a:p>
          </p:txBody>
        </p:sp>
        <p:sp>
          <p:nvSpPr>
            <p:cNvPr id="8" name="TextBox 8"/>
            <p:cNvSpPr txBox="1"/>
            <p:nvPr/>
          </p:nvSpPr>
          <p:spPr>
            <a:xfrm>
              <a:off x="0" y="-38100"/>
              <a:ext cx="5798675" cy="2616257"/>
            </a:xfrm>
            <a:prstGeom prst="rect">
              <a:avLst/>
            </a:prstGeom>
          </p:spPr>
          <p:txBody>
            <a:bodyPr lIns="39277" tIns="39277" rIns="39277" bIns="39277" rtlCol="0" anchor="ctr"/>
            <a:lstStyle/>
            <a:p>
              <a:pPr algn="ctr">
                <a:lnSpc>
                  <a:spcPts val="2879"/>
                </a:lnSpc>
              </a:pPr>
              <a:endParaRPr/>
            </a:p>
          </p:txBody>
        </p:sp>
      </p:grpSp>
      <p:grpSp>
        <p:nvGrpSpPr>
          <p:cNvPr id="15" name="Group 15"/>
          <p:cNvGrpSpPr/>
          <p:nvPr/>
        </p:nvGrpSpPr>
        <p:grpSpPr>
          <a:xfrm>
            <a:off x="10896162" y="1984557"/>
            <a:ext cx="3240000" cy="6892743"/>
            <a:chOff x="0" y="0"/>
            <a:chExt cx="679680" cy="1815373"/>
          </a:xfrm>
        </p:grpSpPr>
        <p:sp>
          <p:nvSpPr>
            <p:cNvPr id="16" name="Freeform 16"/>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7" name="TextBox 17"/>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1" name="Group 21"/>
          <p:cNvGrpSpPr/>
          <p:nvPr/>
        </p:nvGrpSpPr>
        <p:grpSpPr>
          <a:xfrm>
            <a:off x="7467308" y="1984557"/>
            <a:ext cx="3240000" cy="6892743"/>
            <a:chOff x="0" y="0"/>
            <a:chExt cx="679680" cy="1815373"/>
          </a:xfrm>
        </p:grpSpPr>
        <p:sp>
          <p:nvSpPr>
            <p:cNvPr id="22" name="Freeform 22"/>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3" name="TextBox 23"/>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7" name="Group 27"/>
          <p:cNvGrpSpPr/>
          <p:nvPr/>
        </p:nvGrpSpPr>
        <p:grpSpPr>
          <a:xfrm>
            <a:off x="4078937" y="1827196"/>
            <a:ext cx="3240000" cy="7037404"/>
            <a:chOff x="0" y="-38100"/>
            <a:chExt cx="764640" cy="1853473"/>
          </a:xfrm>
        </p:grpSpPr>
        <p:sp>
          <p:nvSpPr>
            <p:cNvPr id="28" name="Freeform 28"/>
            <p:cNvSpPr/>
            <p:nvPr/>
          </p:nvSpPr>
          <p:spPr>
            <a:xfrm>
              <a:off x="0" y="0"/>
              <a:ext cx="76464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9" name="TextBox 29"/>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33" name="Group 33"/>
          <p:cNvGrpSpPr/>
          <p:nvPr/>
        </p:nvGrpSpPr>
        <p:grpSpPr>
          <a:xfrm>
            <a:off x="14325016" y="1984557"/>
            <a:ext cx="3240000" cy="6892743"/>
            <a:chOff x="0" y="0"/>
            <a:chExt cx="679680" cy="1815373"/>
          </a:xfrm>
        </p:grpSpPr>
        <p:sp>
          <p:nvSpPr>
            <p:cNvPr id="34" name="Freeform 34"/>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35" name="TextBox 35"/>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5" name="Group 27">
            <a:extLst>
              <a:ext uri="{FF2B5EF4-FFF2-40B4-BE49-F238E27FC236}">
                <a16:creationId xmlns:a16="http://schemas.microsoft.com/office/drawing/2014/main" id="{E551FAE2-1AC9-361B-7730-FDCEE33589CF}"/>
              </a:ext>
            </a:extLst>
          </p:cNvPr>
          <p:cNvGrpSpPr/>
          <p:nvPr/>
        </p:nvGrpSpPr>
        <p:grpSpPr>
          <a:xfrm>
            <a:off x="609600" y="1984557"/>
            <a:ext cx="3240000" cy="6892743"/>
            <a:chOff x="0" y="0"/>
            <a:chExt cx="679680" cy="1815373"/>
          </a:xfrm>
        </p:grpSpPr>
        <p:sp>
          <p:nvSpPr>
            <p:cNvPr id="12" name="Freeform 28">
              <a:extLst>
                <a:ext uri="{FF2B5EF4-FFF2-40B4-BE49-F238E27FC236}">
                  <a16:creationId xmlns:a16="http://schemas.microsoft.com/office/drawing/2014/main" id="{C9115E66-B9B4-B2EA-4D60-97F947167A8C}"/>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3" name="TextBox 29">
              <a:extLst>
                <a:ext uri="{FF2B5EF4-FFF2-40B4-BE49-F238E27FC236}">
                  <a16:creationId xmlns:a16="http://schemas.microsoft.com/office/drawing/2014/main" id="{3896A427-D578-2424-F014-26C9CB82EEFD}"/>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sp>
        <p:nvSpPr>
          <p:cNvPr id="20" name="AutoShape 4">
            <a:extLst>
              <a:ext uri="{FF2B5EF4-FFF2-40B4-BE49-F238E27FC236}">
                <a16:creationId xmlns:a16="http://schemas.microsoft.com/office/drawing/2014/main" id="{40EB3BF9-A6DB-4A54-7E1B-FC78F8C7A8B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1E9327C6-FA99-3341-5F09-1F15A740AAFE}"/>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5944" t="11984" r="17436" b="21395"/>
          <a:stretch>
            <a:fillRect/>
          </a:stretch>
        </p:blipFill>
        <p:spPr>
          <a:xfrm>
            <a:off x="7693057" y="2317500"/>
            <a:ext cx="2826000" cy="2826000"/>
          </a:xfrm>
          <a:prstGeom prst="ellipse">
            <a:avLst/>
          </a:prstGeom>
        </p:spPr>
      </p:pic>
      <p:pic>
        <p:nvPicPr>
          <p:cNvPr id="10" name="Picture 9">
            <a:extLst>
              <a:ext uri="{FF2B5EF4-FFF2-40B4-BE49-F238E27FC236}">
                <a16:creationId xmlns:a16="http://schemas.microsoft.com/office/drawing/2014/main" id="{DE8EDE05-25B6-6311-90CF-DDF964BF3EDA}"/>
              </a:ext>
            </a:extLst>
          </p:cNvPr>
          <p:cNvPicPr>
            <a:picLocks noChangeAspect="1"/>
          </p:cNvPicPr>
          <p:nvPr/>
        </p:nvPicPr>
        <p:blipFill rotWithShape="1">
          <a:blip r:embed="rId9">
            <a:extLst>
              <a:ext uri="{28A0092B-C50C-407E-A947-70E740481C1C}">
                <a14:useLocalDpi xmlns:a14="http://schemas.microsoft.com/office/drawing/2010/main" val="0"/>
              </a:ext>
            </a:extLst>
          </a:blip>
          <a:srcRect l="37814" t="6773" r="31810" b="70445"/>
          <a:stretch>
            <a:fillRect/>
          </a:stretch>
        </p:blipFill>
        <p:spPr>
          <a:xfrm>
            <a:off x="860501" y="2317500"/>
            <a:ext cx="2826000" cy="2826000"/>
          </a:xfrm>
          <a:prstGeom prst="ellipse">
            <a:avLst/>
          </a:prstGeom>
        </p:spPr>
      </p:pic>
      <p:pic>
        <p:nvPicPr>
          <p:cNvPr id="9" name="Picture 8">
            <a:extLst>
              <a:ext uri="{FF2B5EF4-FFF2-40B4-BE49-F238E27FC236}">
                <a16:creationId xmlns:a16="http://schemas.microsoft.com/office/drawing/2014/main" id="{F921623F-FA1B-45B6-C9D9-EB62AF42BF83}"/>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27401" t="2647" r="30140" b="52551"/>
          <a:stretch>
            <a:fillRect/>
          </a:stretch>
        </p:blipFill>
        <p:spPr>
          <a:xfrm>
            <a:off x="11083783" y="2317500"/>
            <a:ext cx="2826000" cy="2826000"/>
          </a:xfrm>
          <a:prstGeom prst="ellipse">
            <a:avLst/>
          </a:prstGeom>
        </p:spPr>
      </p:pic>
      <p:pic>
        <p:nvPicPr>
          <p:cNvPr id="14" name="Picture 13">
            <a:extLst>
              <a:ext uri="{FF2B5EF4-FFF2-40B4-BE49-F238E27FC236}">
                <a16:creationId xmlns:a16="http://schemas.microsoft.com/office/drawing/2014/main" id="{04CADA13-6A00-205D-81CC-4C92BFF88FC9}"/>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9199" t="9327" r="3579" b="25258"/>
          <a:stretch>
            <a:fillRect/>
          </a:stretch>
        </p:blipFill>
        <p:spPr>
          <a:xfrm>
            <a:off x="14585785" y="2317500"/>
            <a:ext cx="2826000" cy="2826000"/>
          </a:xfrm>
          <a:prstGeom prst="ellipse">
            <a:avLst/>
          </a:prstGeom>
        </p:spPr>
      </p:pic>
      <p:pic>
        <p:nvPicPr>
          <p:cNvPr id="18" name="Picture 17">
            <a:extLst>
              <a:ext uri="{FF2B5EF4-FFF2-40B4-BE49-F238E27FC236}">
                <a16:creationId xmlns:a16="http://schemas.microsoft.com/office/drawing/2014/main" id="{CF08F067-72D5-3EEA-CB16-7D89C2D863E6}"/>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9007" t="14441" r="24550" b="34302"/>
          <a:stretch>
            <a:fillRect/>
          </a:stretch>
        </p:blipFill>
        <p:spPr>
          <a:xfrm>
            <a:off x="4336800" y="2317500"/>
            <a:ext cx="2826000" cy="2826000"/>
          </a:xfrm>
          <a:prstGeom prst="ellipse">
            <a:avLst/>
          </a:prstGeom>
        </p:spPr>
      </p:pic>
      <p:sp>
        <p:nvSpPr>
          <p:cNvPr id="24" name="TextBox 42">
            <a:extLst>
              <a:ext uri="{FF2B5EF4-FFF2-40B4-BE49-F238E27FC236}">
                <a16:creationId xmlns:a16="http://schemas.microsoft.com/office/drawing/2014/main" id="{90083559-EFAD-AC87-A4FF-24D333E08D67}"/>
              </a:ext>
            </a:extLst>
          </p:cNvPr>
          <p:cNvSpPr txBox="1"/>
          <p:nvPr/>
        </p:nvSpPr>
        <p:spPr>
          <a:xfrm>
            <a:off x="457200" y="4914900"/>
            <a:ext cx="3632602" cy="782778"/>
          </a:xfrm>
          <a:prstGeom prst="rect">
            <a:avLst/>
          </a:prstGeom>
        </p:spPr>
        <p:txBody>
          <a:bodyPr wrap="square" lIns="0" tIns="0" rIns="0" bIns="0" rtlCol="0" anchor="t">
            <a:spAutoFit/>
          </a:bodyPr>
          <a:lstStyle/>
          <a:p>
            <a:pPr algn="ctr">
              <a:lnSpc>
                <a:spcPts val="6860"/>
              </a:lnSpc>
            </a:pPr>
            <a:r>
              <a:rPr lang="en-US" sz="2800" b="1" dirty="0">
                <a:solidFill>
                  <a:srgbClr val="000000"/>
                </a:solidFill>
                <a:latin typeface="Canva Sans Bold"/>
                <a:ea typeface="Canva Sans Bold"/>
                <a:cs typeface="Canva Sans Bold"/>
                <a:sym typeface="Canva Sans Bold"/>
              </a:rPr>
              <a:t>Mohamed Emad</a:t>
            </a:r>
          </a:p>
        </p:txBody>
      </p:sp>
      <p:pic>
        <p:nvPicPr>
          <p:cNvPr id="25" name="Picture 24">
            <a:extLst>
              <a:ext uri="{FF2B5EF4-FFF2-40B4-BE49-F238E27FC236}">
                <a16:creationId xmlns:a16="http://schemas.microsoft.com/office/drawing/2014/main" id="{1FAAD701-B589-472A-5DA9-E5845068EFF6}"/>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193501" y="6060305"/>
            <a:ext cx="2160000" cy="2160000"/>
          </a:xfrm>
          <a:prstGeom prst="rect">
            <a:avLst/>
          </a:prstGeom>
        </p:spPr>
      </p:pic>
      <p:sp>
        <p:nvSpPr>
          <p:cNvPr id="26" name="TextBox 42">
            <a:extLst>
              <a:ext uri="{FF2B5EF4-FFF2-40B4-BE49-F238E27FC236}">
                <a16:creationId xmlns:a16="http://schemas.microsoft.com/office/drawing/2014/main" id="{9A358A2F-F325-0E16-8026-8468F95B078A}"/>
              </a:ext>
            </a:extLst>
          </p:cNvPr>
          <p:cNvSpPr txBox="1"/>
          <p:nvPr/>
        </p:nvSpPr>
        <p:spPr>
          <a:xfrm>
            <a:off x="4404155" y="4914900"/>
            <a:ext cx="2691290" cy="769570"/>
          </a:xfrm>
          <a:prstGeom prst="rect">
            <a:avLst/>
          </a:prstGeom>
        </p:spPr>
        <p:txBody>
          <a:bodyPr wrap="square" lIns="0" tIns="0" rIns="0" bIns="0" rtlCol="0" anchor="t">
            <a:spAutoFit/>
          </a:bodyPr>
          <a:lstStyle/>
          <a:p>
            <a:pPr algn="ctr">
              <a:lnSpc>
                <a:spcPts val="6860"/>
              </a:lnSpc>
            </a:pPr>
            <a:r>
              <a:rPr lang="en-US" sz="2800" b="1" dirty="0">
                <a:solidFill>
                  <a:srgbClr val="000000"/>
                </a:solidFill>
                <a:latin typeface="Canva Sans Bold"/>
                <a:ea typeface="Canva Sans Bold"/>
                <a:cs typeface="Canva Sans Bold"/>
                <a:sym typeface="Canva Sans Bold"/>
              </a:rPr>
              <a:t>Menna Younes</a:t>
            </a:r>
          </a:p>
        </p:txBody>
      </p:sp>
      <p:sp>
        <p:nvSpPr>
          <p:cNvPr id="30" name="TextBox 42">
            <a:extLst>
              <a:ext uri="{FF2B5EF4-FFF2-40B4-BE49-F238E27FC236}">
                <a16:creationId xmlns:a16="http://schemas.microsoft.com/office/drawing/2014/main" id="{0274EC4E-C661-8A0A-3BA4-5637F960D2FB}"/>
              </a:ext>
            </a:extLst>
          </p:cNvPr>
          <p:cNvSpPr txBox="1"/>
          <p:nvPr/>
        </p:nvSpPr>
        <p:spPr>
          <a:xfrm>
            <a:off x="7516484" y="4914900"/>
            <a:ext cx="3179146" cy="769570"/>
          </a:xfrm>
          <a:prstGeom prst="rect">
            <a:avLst/>
          </a:prstGeom>
        </p:spPr>
        <p:txBody>
          <a:bodyPr wrap="square" lIns="0" tIns="0" rIns="0" bIns="0" rtlCol="0" anchor="t">
            <a:spAutoFit/>
          </a:bodyPr>
          <a:lstStyle/>
          <a:p>
            <a:pPr algn="ctr">
              <a:lnSpc>
                <a:spcPts val="6860"/>
              </a:lnSpc>
            </a:pPr>
            <a:r>
              <a:rPr lang="en-US" sz="2400" b="1" dirty="0">
                <a:solidFill>
                  <a:srgbClr val="000000"/>
                </a:solidFill>
                <a:latin typeface="Canva Sans Bold"/>
                <a:ea typeface="Canva Sans Bold"/>
                <a:cs typeface="Canva Sans Bold"/>
                <a:sym typeface="Canva Sans Bold"/>
              </a:rPr>
              <a:t>Mohamed Elsayed</a:t>
            </a:r>
          </a:p>
        </p:txBody>
      </p:sp>
      <p:sp>
        <p:nvSpPr>
          <p:cNvPr id="31" name="TextBox 42">
            <a:extLst>
              <a:ext uri="{FF2B5EF4-FFF2-40B4-BE49-F238E27FC236}">
                <a16:creationId xmlns:a16="http://schemas.microsoft.com/office/drawing/2014/main" id="{5BD8F1C2-4F33-4E56-3BCA-DAA14D4D3D9F}"/>
              </a:ext>
            </a:extLst>
          </p:cNvPr>
          <p:cNvSpPr txBox="1"/>
          <p:nvPr/>
        </p:nvSpPr>
        <p:spPr>
          <a:xfrm>
            <a:off x="11288210" y="4914900"/>
            <a:ext cx="2417146" cy="756361"/>
          </a:xfrm>
          <a:prstGeom prst="rect">
            <a:avLst/>
          </a:prstGeom>
        </p:spPr>
        <p:txBody>
          <a:bodyPr wrap="square" lIns="0" tIns="0" rIns="0" bIns="0" rtlCol="0" anchor="t">
            <a:spAutoFit/>
          </a:bodyPr>
          <a:lstStyle/>
          <a:p>
            <a:pPr algn="ctr">
              <a:lnSpc>
                <a:spcPts val="6860"/>
              </a:lnSpc>
            </a:pPr>
            <a:r>
              <a:rPr lang="en-US" sz="2800" b="1" dirty="0">
                <a:solidFill>
                  <a:srgbClr val="000000"/>
                </a:solidFill>
                <a:latin typeface="Canva Sans Bold"/>
                <a:ea typeface="Canva Sans Bold"/>
                <a:cs typeface="Canva Sans Bold"/>
                <a:sym typeface="Canva Sans Bold"/>
              </a:rPr>
              <a:t>Farah Magdy </a:t>
            </a:r>
          </a:p>
        </p:txBody>
      </p:sp>
      <p:sp>
        <p:nvSpPr>
          <p:cNvPr id="32" name="TextBox 42">
            <a:extLst>
              <a:ext uri="{FF2B5EF4-FFF2-40B4-BE49-F238E27FC236}">
                <a16:creationId xmlns:a16="http://schemas.microsoft.com/office/drawing/2014/main" id="{4A1CBE07-F3EB-17CD-CD31-7256A802C840}"/>
              </a:ext>
            </a:extLst>
          </p:cNvPr>
          <p:cNvSpPr txBox="1"/>
          <p:nvPr/>
        </p:nvSpPr>
        <p:spPr>
          <a:xfrm>
            <a:off x="14409212" y="4914900"/>
            <a:ext cx="3179146" cy="756361"/>
          </a:xfrm>
          <a:prstGeom prst="rect">
            <a:avLst/>
          </a:prstGeom>
        </p:spPr>
        <p:txBody>
          <a:bodyPr wrap="square" lIns="0" tIns="0" rIns="0" bIns="0" rtlCol="0" anchor="t">
            <a:spAutoFit/>
          </a:bodyPr>
          <a:lstStyle/>
          <a:p>
            <a:pPr algn="ctr">
              <a:lnSpc>
                <a:spcPts val="6860"/>
              </a:lnSpc>
            </a:pPr>
            <a:r>
              <a:rPr lang="en-US" sz="2800" b="1" dirty="0">
                <a:solidFill>
                  <a:srgbClr val="000000"/>
                </a:solidFill>
                <a:latin typeface="Canva Sans Bold"/>
                <a:ea typeface="Canva Sans Bold"/>
                <a:cs typeface="Canva Sans Bold"/>
                <a:sym typeface="Canva Sans Bold"/>
              </a:rPr>
              <a:t>Mohamed Ahmed</a:t>
            </a:r>
          </a:p>
        </p:txBody>
      </p:sp>
      <p:pic>
        <p:nvPicPr>
          <p:cNvPr id="36" name="Picture 35">
            <a:extLst>
              <a:ext uri="{FF2B5EF4-FFF2-40B4-BE49-F238E27FC236}">
                <a16:creationId xmlns:a16="http://schemas.microsoft.com/office/drawing/2014/main" id="{77580036-4864-B4C7-00E5-F70A5BB8701A}"/>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669800" y="6060305"/>
            <a:ext cx="2160000" cy="2160000"/>
          </a:xfrm>
          <a:prstGeom prst="rect">
            <a:avLst/>
          </a:prstGeom>
        </p:spPr>
      </p:pic>
      <p:pic>
        <p:nvPicPr>
          <p:cNvPr id="37" name="Picture 36">
            <a:extLst>
              <a:ext uri="{FF2B5EF4-FFF2-40B4-BE49-F238E27FC236}">
                <a16:creationId xmlns:a16="http://schemas.microsoft.com/office/drawing/2014/main" id="{BC332138-9E7D-56A2-6096-9C80FF52069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4918785" y="6060305"/>
            <a:ext cx="2160000" cy="2160000"/>
          </a:xfrm>
          <a:prstGeom prst="rect">
            <a:avLst/>
          </a:prstGeom>
        </p:spPr>
      </p:pic>
      <p:pic>
        <p:nvPicPr>
          <p:cNvPr id="49" name="Picture 48">
            <a:extLst>
              <a:ext uri="{FF2B5EF4-FFF2-40B4-BE49-F238E27FC236}">
                <a16:creationId xmlns:a16="http://schemas.microsoft.com/office/drawing/2014/main" id="{82F7C9EB-4E57-E03D-1D86-3E6B56FA5764}"/>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1416783" y="6060305"/>
            <a:ext cx="2160000" cy="2160000"/>
          </a:xfrm>
          <a:prstGeom prst="rect">
            <a:avLst/>
          </a:prstGeom>
        </p:spPr>
      </p:pic>
      <p:pic>
        <p:nvPicPr>
          <p:cNvPr id="51" name="Picture 50">
            <a:extLst>
              <a:ext uri="{FF2B5EF4-FFF2-40B4-BE49-F238E27FC236}">
                <a16:creationId xmlns:a16="http://schemas.microsoft.com/office/drawing/2014/main" id="{D9705F75-6857-6863-C832-ECD796CC2DC4}"/>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8026057" y="6060305"/>
            <a:ext cx="2160000" cy="2160000"/>
          </a:xfrm>
          <a:prstGeom prst="rect">
            <a:avLst/>
          </a:prstGeom>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p:cNvGrpSpPr/>
          <p:nvPr/>
        </p:nvGrpSpPr>
        <p:grpSpPr>
          <a:xfrm>
            <a:off x="5539962" y="5335363"/>
            <a:ext cx="7208076" cy="1291840"/>
            <a:chOff x="0" y="0"/>
            <a:chExt cx="1830071" cy="340238"/>
          </a:xfrm>
        </p:grpSpPr>
        <p:sp>
          <p:nvSpPr>
            <p:cNvPr id="7" name="Freeform 7"/>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8" name="TextBox 8"/>
            <p:cNvSpPr txBox="1"/>
            <p:nvPr/>
          </p:nvSpPr>
          <p:spPr>
            <a:xfrm>
              <a:off x="0" y="-38100"/>
              <a:ext cx="1830071" cy="378338"/>
            </a:xfrm>
            <a:prstGeom prst="rect">
              <a:avLst/>
            </a:prstGeom>
          </p:spPr>
          <p:txBody>
            <a:bodyPr lIns="50800" tIns="50800" rIns="50800" bIns="50800" rtlCol="0" anchor="ctr"/>
            <a:lstStyle/>
            <a:p>
              <a:pPr algn="ctr">
                <a:lnSpc>
                  <a:spcPts val="2879"/>
                </a:lnSpc>
              </a:pPr>
              <a:endParaRPr/>
            </a:p>
          </p:txBody>
        </p:sp>
      </p:grpSp>
      <p:sp>
        <p:nvSpPr>
          <p:cNvPr id="10" name="TextBox 10"/>
          <p:cNvSpPr txBox="1"/>
          <p:nvPr/>
        </p:nvSpPr>
        <p:spPr>
          <a:xfrm>
            <a:off x="5654261" y="5476457"/>
            <a:ext cx="6979476" cy="1009651"/>
          </a:xfrm>
          <a:prstGeom prst="rect">
            <a:avLst/>
          </a:prstGeom>
        </p:spPr>
        <p:txBody>
          <a:bodyPr wrap="square" lIns="0" tIns="0" rIns="0" bIns="0" rtlCol="0" anchor="t">
            <a:spAutoFit/>
          </a:bodyPr>
          <a:lstStyle/>
          <a:p>
            <a:pPr algn="ctr">
              <a:lnSpc>
                <a:spcPts val="8399"/>
              </a:lnSpc>
            </a:pPr>
            <a:r>
              <a:rPr lang="en-US" sz="5999" b="1" dirty="0">
                <a:solidFill>
                  <a:srgbClr val="336EA8"/>
                </a:solidFill>
                <a:latin typeface="Canva Sans Bold"/>
                <a:ea typeface="Canva Sans Bold"/>
                <a:cs typeface="Canva Sans Bold"/>
                <a:sym typeface="Canva Sans Bold"/>
              </a:rPr>
              <a:t>Project Time Line</a:t>
            </a:r>
          </a:p>
        </p:txBody>
      </p:sp>
      <p:pic>
        <p:nvPicPr>
          <p:cNvPr id="11" name="Picture 10">
            <a:extLst>
              <a:ext uri="{FF2B5EF4-FFF2-40B4-BE49-F238E27FC236}">
                <a16:creationId xmlns:a16="http://schemas.microsoft.com/office/drawing/2014/main" id="{018B532A-BF0F-038A-26E0-BA28D109E1B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
        <p:nvSpPr>
          <p:cNvPr id="13" name="TextBox 6">
            <a:extLst>
              <a:ext uri="{FF2B5EF4-FFF2-40B4-BE49-F238E27FC236}">
                <a16:creationId xmlns:a16="http://schemas.microsoft.com/office/drawing/2014/main" id="{D12116EC-7CD4-879F-87BA-4E8F4FFF3DD5}"/>
              </a:ext>
            </a:extLst>
          </p:cNvPr>
          <p:cNvSpPr txBox="1"/>
          <p:nvPr/>
        </p:nvSpPr>
        <p:spPr>
          <a:xfrm>
            <a:off x="4522172" y="3136235"/>
            <a:ext cx="9243655" cy="1459246"/>
          </a:xfrm>
          <a:prstGeom prst="rect">
            <a:avLst/>
          </a:prstGeom>
        </p:spPr>
        <p:txBody>
          <a:bodyPr wrap="square" lIns="0" tIns="0" rIns="0" bIns="0" rtlCol="0" anchor="t">
            <a:spAutoFit/>
          </a:bodyPr>
          <a:lstStyle/>
          <a:p>
            <a:pPr algn="ctr">
              <a:lnSpc>
                <a:spcPts val="12880"/>
              </a:lnSpc>
            </a:pPr>
            <a:r>
              <a:rPr lang="en-US" sz="6600" b="1" dirty="0">
                <a:solidFill>
                  <a:srgbClr val="336EA8"/>
                </a:solidFill>
                <a:latin typeface="Canva Sans Bold"/>
                <a:ea typeface="Canva Sans Bold"/>
                <a:cs typeface="Canva Sans Bold"/>
                <a:sym typeface="Canva Sans Bold"/>
              </a:rPr>
              <a:t>Manufacturing Project</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40" y="-27093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dirty="0"/>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p:cNvGrpSpPr/>
          <p:nvPr/>
        </p:nvGrpSpPr>
        <p:grpSpPr>
          <a:xfrm>
            <a:off x="184518" y="4948100"/>
            <a:ext cx="5372394" cy="998808"/>
            <a:chOff x="0" y="0"/>
            <a:chExt cx="1830071" cy="340238"/>
          </a:xfrm>
        </p:grpSpPr>
        <p:sp>
          <p:nvSpPr>
            <p:cNvPr id="7" name="Freeform 7"/>
            <p:cNvSpPr/>
            <p:nvPr/>
          </p:nvSpPr>
          <p:spPr>
            <a:xfrm>
              <a:off x="0" y="0"/>
              <a:ext cx="1830071" cy="340238"/>
            </a:xfrm>
            <a:custGeom>
              <a:avLst/>
              <a:gdLst/>
              <a:ahLst/>
              <a:cxnLst/>
              <a:rect l="l" t="t" r="r" b="b"/>
              <a:pathLst>
                <a:path w="1830071" h="340238">
                  <a:moveTo>
                    <a:pt x="73494" y="0"/>
                  </a:moveTo>
                  <a:lnTo>
                    <a:pt x="1756578" y="0"/>
                  </a:lnTo>
                  <a:cubicBezTo>
                    <a:pt x="1776069" y="0"/>
                    <a:pt x="1794763" y="7743"/>
                    <a:pt x="1808546" y="21526"/>
                  </a:cubicBezTo>
                  <a:cubicBezTo>
                    <a:pt x="1822328" y="35309"/>
                    <a:pt x="1830071" y="54002"/>
                    <a:pt x="1830071" y="73494"/>
                  </a:cubicBezTo>
                  <a:lnTo>
                    <a:pt x="1830071" y="266744"/>
                  </a:lnTo>
                  <a:cubicBezTo>
                    <a:pt x="1830071" y="307333"/>
                    <a:pt x="1797167" y="340238"/>
                    <a:pt x="1756578" y="340238"/>
                  </a:cubicBezTo>
                  <a:lnTo>
                    <a:pt x="73494" y="340238"/>
                  </a:lnTo>
                  <a:cubicBezTo>
                    <a:pt x="32904" y="340238"/>
                    <a:pt x="0" y="307333"/>
                    <a:pt x="0" y="266744"/>
                  </a:cubicBezTo>
                  <a:lnTo>
                    <a:pt x="0" y="73494"/>
                  </a:lnTo>
                  <a:cubicBezTo>
                    <a:pt x="0" y="32904"/>
                    <a:pt x="32904" y="0"/>
                    <a:pt x="73494" y="0"/>
                  </a:cubicBezTo>
                  <a:close/>
                </a:path>
              </a:pathLst>
            </a:custGeom>
            <a:solidFill>
              <a:srgbClr val="84E4A8"/>
            </a:solidFill>
          </p:spPr>
          <p:txBody>
            <a:bodyPr/>
            <a:lstStyle/>
            <a:p>
              <a:endParaRPr lang="en-US"/>
            </a:p>
          </p:txBody>
        </p:sp>
        <p:sp>
          <p:nvSpPr>
            <p:cNvPr id="8" name="TextBox 8"/>
            <p:cNvSpPr txBox="1"/>
            <p:nvPr/>
          </p:nvSpPr>
          <p:spPr>
            <a:xfrm>
              <a:off x="0" y="-38100"/>
              <a:ext cx="1830071" cy="378338"/>
            </a:xfrm>
            <a:prstGeom prst="rect">
              <a:avLst/>
            </a:prstGeom>
          </p:spPr>
          <p:txBody>
            <a:bodyPr lIns="39277" tIns="39277" rIns="39277" bIns="39277" rtlCol="0" anchor="ctr"/>
            <a:lstStyle/>
            <a:p>
              <a:pPr algn="ctr">
                <a:lnSpc>
                  <a:spcPts val="2879"/>
                </a:lnSpc>
              </a:pPr>
              <a:endParaRPr/>
            </a:p>
          </p:txBody>
        </p:sp>
      </p:grpSp>
      <p:sp>
        <p:nvSpPr>
          <p:cNvPr id="9" name="TextBox 9"/>
          <p:cNvSpPr txBox="1"/>
          <p:nvPr/>
        </p:nvSpPr>
        <p:spPr>
          <a:xfrm>
            <a:off x="102631" y="4999517"/>
            <a:ext cx="5536168" cy="784125"/>
          </a:xfrm>
          <a:prstGeom prst="rect">
            <a:avLst/>
          </a:prstGeom>
        </p:spPr>
        <p:txBody>
          <a:bodyPr wrap="square"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Project </a:t>
            </a:r>
            <a:r>
              <a:rPr lang="en-US" sz="4800" b="1" dirty="0">
                <a:solidFill>
                  <a:srgbClr val="336EA8"/>
                </a:solidFill>
                <a:latin typeface="Canva Sans Bold"/>
                <a:ea typeface="Canva Sans Bold"/>
                <a:cs typeface="Canva Sans Bold"/>
                <a:sym typeface="Canva Sans Bold"/>
              </a:rPr>
              <a:t>Time Line</a:t>
            </a:r>
            <a:endParaRPr lang="en-US" sz="4638" b="1" dirty="0">
              <a:solidFill>
                <a:srgbClr val="336EA8"/>
              </a:solidFill>
              <a:latin typeface="Canva Sans Bold"/>
              <a:ea typeface="Canva Sans Bold"/>
              <a:cs typeface="Canva Sans Bold"/>
              <a:sym typeface="Canva Sans Bold"/>
            </a:endParaRPr>
          </a:p>
        </p:txBody>
      </p:sp>
      <p:grpSp>
        <p:nvGrpSpPr>
          <p:cNvPr id="10" name="Group 10"/>
          <p:cNvGrpSpPr/>
          <p:nvPr/>
        </p:nvGrpSpPr>
        <p:grpSpPr>
          <a:xfrm>
            <a:off x="6090088" y="1181100"/>
            <a:ext cx="9121806" cy="1088299"/>
            <a:chOff x="1" y="-1"/>
            <a:chExt cx="14417842" cy="3105185"/>
          </a:xfrm>
        </p:grpSpPr>
        <p:grpSp>
          <p:nvGrpSpPr>
            <p:cNvPr id="11" name="Group 11"/>
            <p:cNvGrpSpPr/>
            <p:nvPr/>
          </p:nvGrpSpPr>
          <p:grpSpPr>
            <a:xfrm rot="-5400000">
              <a:off x="5773532" y="-5773532"/>
              <a:ext cx="2870779" cy="14417842"/>
              <a:chOff x="0" y="0"/>
              <a:chExt cx="567068" cy="2847969"/>
            </a:xfrm>
          </p:grpSpPr>
          <p:sp>
            <p:nvSpPr>
              <p:cNvPr id="12" name="Freeform 12"/>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13" name="TextBox 13"/>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14" name="TextBox 14"/>
            <p:cNvSpPr txBox="1"/>
            <p:nvPr/>
          </p:nvSpPr>
          <p:spPr>
            <a:xfrm>
              <a:off x="3096102" y="883250"/>
              <a:ext cx="8225642" cy="2221934"/>
            </a:xfrm>
            <a:prstGeom prst="rect">
              <a:avLst/>
            </a:prstGeom>
          </p:spPr>
          <p:txBody>
            <a:bodyPr lIns="0" tIns="0" rIns="0" bIns="0" rtlCol="0" anchor="t">
              <a:spAutoFit/>
            </a:bodyPr>
            <a:lstStyle/>
            <a:p>
              <a:pPr algn="ctr">
                <a:lnSpc>
                  <a:spcPts val="6494"/>
                </a:lnSpc>
              </a:pPr>
              <a:endParaRPr lang="en-US" sz="4638" b="1" dirty="0">
                <a:solidFill>
                  <a:srgbClr val="336EA8"/>
                </a:solidFill>
                <a:latin typeface="Canva Sans Bold"/>
                <a:ea typeface="Canva Sans Bold"/>
                <a:cs typeface="Canva Sans Bold"/>
                <a:sym typeface="Canva Sans Bold"/>
              </a:endParaRPr>
            </a:p>
          </p:txBody>
        </p:sp>
      </p:grpSp>
      <p:grpSp>
        <p:nvGrpSpPr>
          <p:cNvPr id="15" name="Group 15"/>
          <p:cNvGrpSpPr/>
          <p:nvPr/>
        </p:nvGrpSpPr>
        <p:grpSpPr>
          <a:xfrm>
            <a:off x="6077896" y="2496805"/>
            <a:ext cx="9121806" cy="1088300"/>
            <a:chOff x="1" y="-1"/>
            <a:chExt cx="14417842" cy="3105182"/>
          </a:xfrm>
        </p:grpSpPr>
        <p:grpSp>
          <p:nvGrpSpPr>
            <p:cNvPr id="16" name="Group 16"/>
            <p:cNvGrpSpPr/>
            <p:nvPr/>
          </p:nvGrpSpPr>
          <p:grpSpPr>
            <a:xfrm rot="-5400000">
              <a:off x="5773532" y="-5773532"/>
              <a:ext cx="2870779" cy="14417842"/>
              <a:chOff x="0" y="0"/>
              <a:chExt cx="567068" cy="2847969"/>
            </a:xfrm>
          </p:grpSpPr>
          <p:sp>
            <p:nvSpPr>
              <p:cNvPr id="17" name="Freeform 17"/>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18" name="TextBox 18"/>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19" name="TextBox 19"/>
            <p:cNvSpPr txBox="1"/>
            <p:nvPr/>
          </p:nvSpPr>
          <p:spPr>
            <a:xfrm>
              <a:off x="3096101" y="883252"/>
              <a:ext cx="8225642" cy="2221929"/>
            </a:xfrm>
            <a:prstGeom prst="rect">
              <a:avLst/>
            </a:prstGeom>
          </p:spPr>
          <p:txBody>
            <a:bodyPr lIns="0" tIns="0" rIns="0" bIns="0" rtlCol="0" anchor="t">
              <a:spAutoFit/>
            </a:bodyPr>
            <a:lstStyle/>
            <a:p>
              <a:pPr algn="ctr">
                <a:lnSpc>
                  <a:spcPts val="6494"/>
                </a:lnSpc>
              </a:pPr>
              <a:endParaRPr lang="en-US" sz="4638" b="1" dirty="0">
                <a:solidFill>
                  <a:srgbClr val="336EA8"/>
                </a:solidFill>
                <a:latin typeface="Canva Sans Bold"/>
                <a:ea typeface="Canva Sans Bold"/>
                <a:cs typeface="Canva Sans Bold"/>
                <a:sym typeface="Canva Sans Bold"/>
              </a:endParaRPr>
            </a:p>
          </p:txBody>
        </p:sp>
      </p:grpSp>
      <p:grpSp>
        <p:nvGrpSpPr>
          <p:cNvPr id="20" name="Group 20"/>
          <p:cNvGrpSpPr/>
          <p:nvPr/>
        </p:nvGrpSpPr>
        <p:grpSpPr>
          <a:xfrm>
            <a:off x="6102037" y="3812511"/>
            <a:ext cx="9133997" cy="945637"/>
            <a:chOff x="1" y="-1"/>
            <a:chExt cx="14417842" cy="2895538"/>
          </a:xfrm>
        </p:grpSpPr>
        <p:grpSp>
          <p:nvGrpSpPr>
            <p:cNvPr id="21" name="Group 21"/>
            <p:cNvGrpSpPr/>
            <p:nvPr/>
          </p:nvGrpSpPr>
          <p:grpSpPr>
            <a:xfrm rot="-5400000">
              <a:off x="5773532" y="-5773532"/>
              <a:ext cx="2870779" cy="14417842"/>
              <a:chOff x="0" y="0"/>
              <a:chExt cx="567068" cy="2847969"/>
            </a:xfrm>
          </p:grpSpPr>
          <p:sp>
            <p:nvSpPr>
              <p:cNvPr id="22" name="Freeform 22"/>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23" name="TextBox 23"/>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24" name="TextBox 24"/>
            <p:cNvSpPr txBox="1"/>
            <p:nvPr/>
          </p:nvSpPr>
          <p:spPr>
            <a:xfrm>
              <a:off x="2073454" y="882682"/>
              <a:ext cx="10270933" cy="2012855"/>
            </a:xfrm>
            <a:prstGeom prst="rect">
              <a:avLst/>
            </a:prstGeom>
          </p:spPr>
          <p:txBody>
            <a:bodyPr lIns="0" tIns="0" rIns="0" bIns="0" rtlCol="0" anchor="t">
              <a:spAutoFit/>
            </a:bodyPr>
            <a:lstStyle/>
            <a:p>
              <a:pPr algn="ctr">
                <a:lnSpc>
                  <a:spcPts val="6494"/>
                </a:lnSpc>
              </a:pPr>
              <a:endParaRPr lang="en-US" sz="4638" b="1" dirty="0">
                <a:solidFill>
                  <a:srgbClr val="336EA8"/>
                </a:solidFill>
                <a:latin typeface="Canva Sans Bold"/>
                <a:ea typeface="Canva Sans Bold"/>
                <a:cs typeface="Canva Sans Bold"/>
                <a:sym typeface="Canva Sans Bold"/>
              </a:endParaRPr>
            </a:p>
          </p:txBody>
        </p:sp>
      </p:grpSp>
      <p:pic>
        <p:nvPicPr>
          <p:cNvPr id="25" name="Picture 24">
            <a:extLst>
              <a:ext uri="{FF2B5EF4-FFF2-40B4-BE49-F238E27FC236}">
                <a16:creationId xmlns:a16="http://schemas.microsoft.com/office/drawing/2014/main" id="{E0712DDA-2201-C300-1FF3-79B87F28E9A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grpSp>
        <p:nvGrpSpPr>
          <p:cNvPr id="5" name="Group 10">
            <a:extLst>
              <a:ext uri="{FF2B5EF4-FFF2-40B4-BE49-F238E27FC236}">
                <a16:creationId xmlns:a16="http://schemas.microsoft.com/office/drawing/2014/main" id="{CACBE5D4-149A-FA3A-AF55-F78A3B342AD6}"/>
              </a:ext>
            </a:extLst>
          </p:cNvPr>
          <p:cNvGrpSpPr/>
          <p:nvPr/>
        </p:nvGrpSpPr>
        <p:grpSpPr>
          <a:xfrm>
            <a:off x="6129468" y="5067168"/>
            <a:ext cx="9121806" cy="1110655"/>
            <a:chOff x="1" y="-1"/>
            <a:chExt cx="14417842" cy="3105185"/>
          </a:xfrm>
        </p:grpSpPr>
        <p:grpSp>
          <p:nvGrpSpPr>
            <p:cNvPr id="26" name="Group 11">
              <a:extLst>
                <a:ext uri="{FF2B5EF4-FFF2-40B4-BE49-F238E27FC236}">
                  <a16:creationId xmlns:a16="http://schemas.microsoft.com/office/drawing/2014/main" id="{71C2471D-18DA-5654-64F0-AF1935033457}"/>
                </a:ext>
              </a:extLst>
            </p:cNvPr>
            <p:cNvGrpSpPr/>
            <p:nvPr/>
          </p:nvGrpSpPr>
          <p:grpSpPr>
            <a:xfrm rot="-5400000">
              <a:off x="5773532" y="-5773532"/>
              <a:ext cx="2870779" cy="14417842"/>
              <a:chOff x="0" y="0"/>
              <a:chExt cx="567068" cy="2847969"/>
            </a:xfrm>
          </p:grpSpPr>
          <p:sp>
            <p:nvSpPr>
              <p:cNvPr id="28" name="Freeform 12">
                <a:extLst>
                  <a:ext uri="{FF2B5EF4-FFF2-40B4-BE49-F238E27FC236}">
                    <a16:creationId xmlns:a16="http://schemas.microsoft.com/office/drawing/2014/main" id="{4C979AC7-4387-8CB2-AFF3-C0F1303AE1AE}"/>
                  </a:ext>
                </a:extLst>
              </p:cNvPr>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29" name="TextBox 13">
                <a:extLst>
                  <a:ext uri="{FF2B5EF4-FFF2-40B4-BE49-F238E27FC236}">
                    <a16:creationId xmlns:a16="http://schemas.microsoft.com/office/drawing/2014/main" id="{94975DB0-9EC6-261B-F63F-A2283AAE9223}"/>
                  </a:ext>
                </a:extLst>
              </p:cNvPr>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27" name="TextBox 14">
              <a:extLst>
                <a:ext uri="{FF2B5EF4-FFF2-40B4-BE49-F238E27FC236}">
                  <a16:creationId xmlns:a16="http://schemas.microsoft.com/office/drawing/2014/main" id="{8A6A153C-1240-F16E-0693-2C1227A86505}"/>
                </a:ext>
              </a:extLst>
            </p:cNvPr>
            <p:cNvSpPr txBox="1"/>
            <p:nvPr/>
          </p:nvSpPr>
          <p:spPr>
            <a:xfrm>
              <a:off x="3096102" y="883250"/>
              <a:ext cx="8225642" cy="2221934"/>
            </a:xfrm>
            <a:prstGeom prst="rect">
              <a:avLst/>
            </a:prstGeom>
          </p:spPr>
          <p:txBody>
            <a:bodyPr lIns="0" tIns="0" rIns="0" bIns="0" rtlCol="0" anchor="t">
              <a:spAutoFit/>
            </a:bodyPr>
            <a:lstStyle/>
            <a:p>
              <a:pPr algn="ctr">
                <a:lnSpc>
                  <a:spcPts val="6494"/>
                </a:lnSpc>
              </a:pPr>
              <a:endParaRPr lang="en-US" sz="4638" b="1" dirty="0">
                <a:solidFill>
                  <a:srgbClr val="336EA8"/>
                </a:solidFill>
                <a:latin typeface="Canva Sans Bold"/>
                <a:ea typeface="Canva Sans Bold"/>
                <a:cs typeface="Canva Sans Bold"/>
                <a:sym typeface="Canva Sans Bold"/>
              </a:endParaRPr>
            </a:p>
          </p:txBody>
        </p:sp>
      </p:grpSp>
      <p:grpSp>
        <p:nvGrpSpPr>
          <p:cNvPr id="30" name="Group 10">
            <a:extLst>
              <a:ext uri="{FF2B5EF4-FFF2-40B4-BE49-F238E27FC236}">
                <a16:creationId xmlns:a16="http://schemas.microsoft.com/office/drawing/2014/main" id="{ADFC1DE1-E9E4-69DB-5C26-C3C09F73818E}"/>
              </a:ext>
            </a:extLst>
          </p:cNvPr>
          <p:cNvGrpSpPr/>
          <p:nvPr/>
        </p:nvGrpSpPr>
        <p:grpSpPr>
          <a:xfrm>
            <a:off x="6108132" y="6403002"/>
            <a:ext cx="9121806" cy="1088299"/>
            <a:chOff x="1" y="-1"/>
            <a:chExt cx="14417842" cy="3105185"/>
          </a:xfrm>
        </p:grpSpPr>
        <p:grpSp>
          <p:nvGrpSpPr>
            <p:cNvPr id="31" name="Group 11">
              <a:extLst>
                <a:ext uri="{FF2B5EF4-FFF2-40B4-BE49-F238E27FC236}">
                  <a16:creationId xmlns:a16="http://schemas.microsoft.com/office/drawing/2014/main" id="{F63DC609-434A-6678-DA59-6A114997CA39}"/>
                </a:ext>
              </a:extLst>
            </p:cNvPr>
            <p:cNvGrpSpPr/>
            <p:nvPr/>
          </p:nvGrpSpPr>
          <p:grpSpPr>
            <a:xfrm rot="-5400000">
              <a:off x="5773532" y="-5773532"/>
              <a:ext cx="2870779" cy="14417842"/>
              <a:chOff x="0" y="0"/>
              <a:chExt cx="567068" cy="2847969"/>
            </a:xfrm>
          </p:grpSpPr>
          <p:sp>
            <p:nvSpPr>
              <p:cNvPr id="33" name="Freeform 12">
                <a:extLst>
                  <a:ext uri="{FF2B5EF4-FFF2-40B4-BE49-F238E27FC236}">
                    <a16:creationId xmlns:a16="http://schemas.microsoft.com/office/drawing/2014/main" id="{246D4605-657E-CE8B-2455-B9C26BD65493}"/>
                  </a:ext>
                </a:extLst>
              </p:cNvPr>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34" name="TextBox 13">
                <a:extLst>
                  <a:ext uri="{FF2B5EF4-FFF2-40B4-BE49-F238E27FC236}">
                    <a16:creationId xmlns:a16="http://schemas.microsoft.com/office/drawing/2014/main" id="{8E51232B-46E5-FC73-9095-1AE86FCB80C8}"/>
                  </a:ext>
                </a:extLst>
              </p:cNvPr>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32" name="TextBox 14">
              <a:extLst>
                <a:ext uri="{FF2B5EF4-FFF2-40B4-BE49-F238E27FC236}">
                  <a16:creationId xmlns:a16="http://schemas.microsoft.com/office/drawing/2014/main" id="{B214C535-BE12-6FB7-6F26-AA49AC5C26B9}"/>
                </a:ext>
              </a:extLst>
            </p:cNvPr>
            <p:cNvSpPr txBox="1"/>
            <p:nvPr/>
          </p:nvSpPr>
          <p:spPr>
            <a:xfrm>
              <a:off x="3096102" y="883250"/>
              <a:ext cx="8225642" cy="2221934"/>
            </a:xfrm>
            <a:prstGeom prst="rect">
              <a:avLst/>
            </a:prstGeom>
          </p:spPr>
          <p:txBody>
            <a:bodyPr lIns="0" tIns="0" rIns="0" bIns="0" rtlCol="0" anchor="t">
              <a:spAutoFit/>
            </a:bodyPr>
            <a:lstStyle/>
            <a:p>
              <a:pPr algn="ctr">
                <a:lnSpc>
                  <a:spcPts val="6494"/>
                </a:lnSpc>
              </a:pPr>
              <a:endParaRPr lang="en-US" sz="4638" b="1" dirty="0">
                <a:solidFill>
                  <a:srgbClr val="336EA8"/>
                </a:solidFill>
                <a:latin typeface="Canva Sans Bold"/>
                <a:ea typeface="Canva Sans Bold"/>
                <a:cs typeface="Canva Sans Bold"/>
                <a:sym typeface="Canva Sans Bold"/>
              </a:endParaRPr>
            </a:p>
          </p:txBody>
        </p:sp>
      </p:grpSp>
      <p:grpSp>
        <p:nvGrpSpPr>
          <p:cNvPr id="35" name="Group 10">
            <a:extLst>
              <a:ext uri="{FF2B5EF4-FFF2-40B4-BE49-F238E27FC236}">
                <a16:creationId xmlns:a16="http://schemas.microsoft.com/office/drawing/2014/main" id="{50A35B0C-5568-6304-35A6-EF2671691A65}"/>
              </a:ext>
            </a:extLst>
          </p:cNvPr>
          <p:cNvGrpSpPr/>
          <p:nvPr/>
        </p:nvGrpSpPr>
        <p:grpSpPr>
          <a:xfrm>
            <a:off x="6129467" y="7724927"/>
            <a:ext cx="9121806" cy="1088299"/>
            <a:chOff x="1" y="-1"/>
            <a:chExt cx="14417842" cy="3105185"/>
          </a:xfrm>
        </p:grpSpPr>
        <p:grpSp>
          <p:nvGrpSpPr>
            <p:cNvPr id="36" name="Group 11">
              <a:extLst>
                <a:ext uri="{FF2B5EF4-FFF2-40B4-BE49-F238E27FC236}">
                  <a16:creationId xmlns:a16="http://schemas.microsoft.com/office/drawing/2014/main" id="{AC912F3E-8B64-BFFB-6D31-FFEB3B5DFBAF}"/>
                </a:ext>
              </a:extLst>
            </p:cNvPr>
            <p:cNvGrpSpPr/>
            <p:nvPr/>
          </p:nvGrpSpPr>
          <p:grpSpPr>
            <a:xfrm rot="-5400000">
              <a:off x="5773532" y="-5773532"/>
              <a:ext cx="2870779" cy="14417842"/>
              <a:chOff x="0" y="0"/>
              <a:chExt cx="567068" cy="2847969"/>
            </a:xfrm>
          </p:grpSpPr>
          <p:sp>
            <p:nvSpPr>
              <p:cNvPr id="38" name="Freeform 12">
                <a:extLst>
                  <a:ext uri="{FF2B5EF4-FFF2-40B4-BE49-F238E27FC236}">
                    <a16:creationId xmlns:a16="http://schemas.microsoft.com/office/drawing/2014/main" id="{DF3DCD8E-2418-CF8F-59A4-5AAD18CD206D}"/>
                  </a:ext>
                </a:extLst>
              </p:cNvPr>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39" name="TextBox 13">
                <a:extLst>
                  <a:ext uri="{FF2B5EF4-FFF2-40B4-BE49-F238E27FC236}">
                    <a16:creationId xmlns:a16="http://schemas.microsoft.com/office/drawing/2014/main" id="{9563D64D-FD87-6C82-546F-0FF30CD294A0}"/>
                  </a:ext>
                </a:extLst>
              </p:cNvPr>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37" name="TextBox 14">
              <a:extLst>
                <a:ext uri="{FF2B5EF4-FFF2-40B4-BE49-F238E27FC236}">
                  <a16:creationId xmlns:a16="http://schemas.microsoft.com/office/drawing/2014/main" id="{FBFCD9C3-7625-FA4D-B000-902AA7F487BD}"/>
                </a:ext>
              </a:extLst>
            </p:cNvPr>
            <p:cNvSpPr txBox="1"/>
            <p:nvPr/>
          </p:nvSpPr>
          <p:spPr>
            <a:xfrm>
              <a:off x="3096102" y="883250"/>
              <a:ext cx="8225642" cy="2221934"/>
            </a:xfrm>
            <a:prstGeom prst="rect">
              <a:avLst/>
            </a:prstGeom>
          </p:spPr>
          <p:txBody>
            <a:bodyPr lIns="0" tIns="0" rIns="0" bIns="0" rtlCol="0" anchor="t">
              <a:spAutoFit/>
            </a:bodyPr>
            <a:lstStyle/>
            <a:p>
              <a:pPr algn="ctr">
                <a:lnSpc>
                  <a:spcPts val="6494"/>
                </a:lnSpc>
              </a:pPr>
              <a:endParaRPr lang="en-US" sz="4638" b="1" dirty="0">
                <a:solidFill>
                  <a:srgbClr val="336EA8"/>
                </a:solidFill>
                <a:latin typeface="Canva Sans Bold"/>
                <a:ea typeface="Canva Sans Bold"/>
                <a:cs typeface="Canva Sans Bold"/>
                <a:sym typeface="Canva Sans Bold"/>
              </a:endParaRPr>
            </a:p>
          </p:txBody>
        </p:sp>
      </p:grpSp>
      <p:grpSp>
        <p:nvGrpSpPr>
          <p:cNvPr id="40" name="Group 10">
            <a:extLst>
              <a:ext uri="{FF2B5EF4-FFF2-40B4-BE49-F238E27FC236}">
                <a16:creationId xmlns:a16="http://schemas.microsoft.com/office/drawing/2014/main" id="{50B2062D-A4E1-E2FA-E6FC-87793E561398}"/>
              </a:ext>
            </a:extLst>
          </p:cNvPr>
          <p:cNvGrpSpPr/>
          <p:nvPr/>
        </p:nvGrpSpPr>
        <p:grpSpPr>
          <a:xfrm>
            <a:off x="6132807" y="9032777"/>
            <a:ext cx="9121806" cy="1088299"/>
            <a:chOff x="1" y="-1"/>
            <a:chExt cx="14417842" cy="3105185"/>
          </a:xfrm>
        </p:grpSpPr>
        <p:grpSp>
          <p:nvGrpSpPr>
            <p:cNvPr id="41" name="Group 11">
              <a:extLst>
                <a:ext uri="{FF2B5EF4-FFF2-40B4-BE49-F238E27FC236}">
                  <a16:creationId xmlns:a16="http://schemas.microsoft.com/office/drawing/2014/main" id="{90EB3A04-DFBE-6581-376B-5C9753AD1FBB}"/>
                </a:ext>
              </a:extLst>
            </p:cNvPr>
            <p:cNvGrpSpPr/>
            <p:nvPr/>
          </p:nvGrpSpPr>
          <p:grpSpPr>
            <a:xfrm rot="-5400000">
              <a:off x="5773532" y="-5773532"/>
              <a:ext cx="2870779" cy="14417842"/>
              <a:chOff x="0" y="0"/>
              <a:chExt cx="567068" cy="2847969"/>
            </a:xfrm>
          </p:grpSpPr>
          <p:sp>
            <p:nvSpPr>
              <p:cNvPr id="43" name="Freeform 12">
                <a:extLst>
                  <a:ext uri="{FF2B5EF4-FFF2-40B4-BE49-F238E27FC236}">
                    <a16:creationId xmlns:a16="http://schemas.microsoft.com/office/drawing/2014/main" id="{43DBA205-C53B-CAB8-C14E-CEFE68132520}"/>
                  </a:ext>
                </a:extLst>
              </p:cNvPr>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44" name="TextBox 13">
                <a:extLst>
                  <a:ext uri="{FF2B5EF4-FFF2-40B4-BE49-F238E27FC236}">
                    <a16:creationId xmlns:a16="http://schemas.microsoft.com/office/drawing/2014/main" id="{8DD63502-9181-BAC6-D6DE-ED1F93151F28}"/>
                  </a:ext>
                </a:extLst>
              </p:cNvPr>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42" name="TextBox 14">
              <a:extLst>
                <a:ext uri="{FF2B5EF4-FFF2-40B4-BE49-F238E27FC236}">
                  <a16:creationId xmlns:a16="http://schemas.microsoft.com/office/drawing/2014/main" id="{4CBF387F-A8DD-8B2F-B5D6-51C33E97022B}"/>
                </a:ext>
              </a:extLst>
            </p:cNvPr>
            <p:cNvSpPr txBox="1"/>
            <p:nvPr/>
          </p:nvSpPr>
          <p:spPr>
            <a:xfrm>
              <a:off x="3096102" y="883250"/>
              <a:ext cx="8225642" cy="2221934"/>
            </a:xfrm>
            <a:prstGeom prst="rect">
              <a:avLst/>
            </a:prstGeom>
          </p:spPr>
          <p:txBody>
            <a:bodyPr lIns="0" tIns="0" rIns="0" bIns="0" rtlCol="0" anchor="t">
              <a:spAutoFit/>
            </a:bodyPr>
            <a:lstStyle/>
            <a:p>
              <a:pPr algn="ctr">
                <a:lnSpc>
                  <a:spcPts val="6494"/>
                </a:lnSpc>
              </a:pPr>
              <a:endParaRPr lang="en-US" sz="4638" b="1" dirty="0">
                <a:solidFill>
                  <a:srgbClr val="336EA8"/>
                </a:solidFill>
                <a:latin typeface="Canva Sans Bold"/>
                <a:ea typeface="Canva Sans Bold"/>
                <a:cs typeface="Canva Sans Bold"/>
                <a:sym typeface="Canva Sans Bold"/>
              </a:endParaRPr>
            </a:p>
          </p:txBody>
        </p:sp>
      </p:grpSp>
      <p:sp>
        <p:nvSpPr>
          <p:cNvPr id="45" name="TextBox 9">
            <a:extLst>
              <a:ext uri="{FF2B5EF4-FFF2-40B4-BE49-F238E27FC236}">
                <a16:creationId xmlns:a16="http://schemas.microsoft.com/office/drawing/2014/main" id="{5E1DBC15-BFA0-D1CA-65CA-9E3C7EB09C67}"/>
              </a:ext>
            </a:extLst>
          </p:cNvPr>
          <p:cNvSpPr txBox="1"/>
          <p:nvPr/>
        </p:nvSpPr>
        <p:spPr>
          <a:xfrm>
            <a:off x="7702071" y="1289406"/>
            <a:ext cx="5536167" cy="778739"/>
          </a:xfrm>
          <a:prstGeom prst="rect">
            <a:avLst/>
          </a:prstGeom>
        </p:spPr>
        <p:txBody>
          <a:bodyPr wrap="square"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Problem Definition</a:t>
            </a:r>
          </a:p>
        </p:txBody>
      </p:sp>
      <p:sp>
        <p:nvSpPr>
          <p:cNvPr id="46" name="TextBox 9">
            <a:extLst>
              <a:ext uri="{FF2B5EF4-FFF2-40B4-BE49-F238E27FC236}">
                <a16:creationId xmlns:a16="http://schemas.microsoft.com/office/drawing/2014/main" id="{069ADDCE-5D22-0B09-01A6-2BE9D1DE6501}"/>
              </a:ext>
            </a:extLst>
          </p:cNvPr>
          <p:cNvSpPr txBox="1"/>
          <p:nvPr/>
        </p:nvSpPr>
        <p:spPr>
          <a:xfrm>
            <a:off x="7922285" y="2557670"/>
            <a:ext cx="5536168" cy="784125"/>
          </a:xfrm>
          <a:prstGeom prst="rect">
            <a:avLst/>
          </a:prstGeom>
        </p:spPr>
        <p:txBody>
          <a:bodyPr wrap="square"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Data Acquisition</a:t>
            </a:r>
          </a:p>
        </p:txBody>
      </p:sp>
      <p:sp>
        <p:nvSpPr>
          <p:cNvPr id="47" name="TextBox 9">
            <a:extLst>
              <a:ext uri="{FF2B5EF4-FFF2-40B4-BE49-F238E27FC236}">
                <a16:creationId xmlns:a16="http://schemas.microsoft.com/office/drawing/2014/main" id="{43A4D330-74A2-9849-3F2F-D33CE89786BE}"/>
              </a:ext>
            </a:extLst>
          </p:cNvPr>
          <p:cNvSpPr txBox="1"/>
          <p:nvPr/>
        </p:nvSpPr>
        <p:spPr>
          <a:xfrm>
            <a:off x="7922285" y="3867156"/>
            <a:ext cx="5536168" cy="784125"/>
          </a:xfrm>
          <a:prstGeom prst="rect">
            <a:avLst/>
          </a:prstGeom>
        </p:spPr>
        <p:txBody>
          <a:bodyPr wrap="square"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Data Cleaning</a:t>
            </a:r>
          </a:p>
        </p:txBody>
      </p:sp>
      <p:sp>
        <p:nvSpPr>
          <p:cNvPr id="48" name="TextBox 9">
            <a:extLst>
              <a:ext uri="{FF2B5EF4-FFF2-40B4-BE49-F238E27FC236}">
                <a16:creationId xmlns:a16="http://schemas.microsoft.com/office/drawing/2014/main" id="{5AB36A38-1793-52EC-7A0A-168ADE15D75D}"/>
              </a:ext>
            </a:extLst>
          </p:cNvPr>
          <p:cNvSpPr txBox="1"/>
          <p:nvPr/>
        </p:nvSpPr>
        <p:spPr>
          <a:xfrm>
            <a:off x="8036721" y="5145212"/>
            <a:ext cx="5536168" cy="784125"/>
          </a:xfrm>
          <a:prstGeom prst="rect">
            <a:avLst/>
          </a:prstGeom>
        </p:spPr>
        <p:txBody>
          <a:bodyPr wrap="square"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Data Modeling</a:t>
            </a:r>
          </a:p>
        </p:txBody>
      </p:sp>
      <p:sp>
        <p:nvSpPr>
          <p:cNvPr id="50" name="TextBox 9">
            <a:extLst>
              <a:ext uri="{FF2B5EF4-FFF2-40B4-BE49-F238E27FC236}">
                <a16:creationId xmlns:a16="http://schemas.microsoft.com/office/drawing/2014/main" id="{7BFB3AB5-96CC-9223-6FF0-FDFFD5086126}"/>
              </a:ext>
            </a:extLst>
          </p:cNvPr>
          <p:cNvSpPr txBox="1"/>
          <p:nvPr/>
        </p:nvSpPr>
        <p:spPr>
          <a:xfrm>
            <a:off x="8036721" y="6493601"/>
            <a:ext cx="5536168" cy="784125"/>
          </a:xfrm>
          <a:prstGeom prst="rect">
            <a:avLst/>
          </a:prstGeom>
        </p:spPr>
        <p:txBody>
          <a:bodyPr wrap="square"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DAX Calculations</a:t>
            </a:r>
          </a:p>
        </p:txBody>
      </p:sp>
      <p:sp>
        <p:nvSpPr>
          <p:cNvPr id="51" name="TextBox 9">
            <a:extLst>
              <a:ext uri="{FF2B5EF4-FFF2-40B4-BE49-F238E27FC236}">
                <a16:creationId xmlns:a16="http://schemas.microsoft.com/office/drawing/2014/main" id="{C1AB7064-5A36-48DD-1AB5-93D5F7570709}"/>
              </a:ext>
            </a:extLst>
          </p:cNvPr>
          <p:cNvSpPr txBox="1"/>
          <p:nvPr/>
        </p:nvSpPr>
        <p:spPr>
          <a:xfrm>
            <a:off x="7702071" y="7753052"/>
            <a:ext cx="6261925" cy="778739"/>
          </a:xfrm>
          <a:prstGeom prst="rect">
            <a:avLst/>
          </a:prstGeom>
        </p:spPr>
        <p:txBody>
          <a:bodyPr wrap="square"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Exploratory Analysis</a:t>
            </a:r>
          </a:p>
        </p:txBody>
      </p:sp>
      <p:sp>
        <p:nvSpPr>
          <p:cNvPr id="52" name="TextBox 9">
            <a:extLst>
              <a:ext uri="{FF2B5EF4-FFF2-40B4-BE49-F238E27FC236}">
                <a16:creationId xmlns:a16="http://schemas.microsoft.com/office/drawing/2014/main" id="{C2512F31-D4B8-7084-E23A-2E90CAF50F67}"/>
              </a:ext>
            </a:extLst>
          </p:cNvPr>
          <p:cNvSpPr txBox="1"/>
          <p:nvPr/>
        </p:nvSpPr>
        <p:spPr>
          <a:xfrm>
            <a:off x="8088292" y="9169676"/>
            <a:ext cx="5536168" cy="784125"/>
          </a:xfrm>
          <a:prstGeom prst="rect">
            <a:avLst/>
          </a:prstGeom>
        </p:spPr>
        <p:txBody>
          <a:bodyPr wrap="square"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Visualization</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3"/>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4"/>
            <a:stretch>
              <a:fillRect b="-2"/>
            </a:stretch>
          </a:blipFill>
        </p:spPr>
        <p:txBody>
          <a:bodyPr/>
          <a:lstStyle/>
          <a:p>
            <a:endParaRPr lang="en-US"/>
          </a:p>
        </p:txBody>
      </p:sp>
      <p:grpSp>
        <p:nvGrpSpPr>
          <p:cNvPr id="6" name="Group 6"/>
          <p:cNvGrpSpPr/>
          <p:nvPr/>
        </p:nvGrpSpPr>
        <p:grpSpPr>
          <a:xfrm>
            <a:off x="-94916" y="4990962"/>
            <a:ext cx="7029115" cy="1143137"/>
            <a:chOff x="-313188" y="0"/>
            <a:chExt cx="7991157" cy="1331744"/>
          </a:xfrm>
        </p:grpSpPr>
        <p:grpSp>
          <p:nvGrpSpPr>
            <p:cNvPr id="7" name="Group 7"/>
            <p:cNvGrpSpPr/>
            <p:nvPr/>
          </p:nvGrpSpPr>
          <p:grpSpPr>
            <a:xfrm>
              <a:off x="0" y="0"/>
              <a:ext cx="7163192" cy="1331744"/>
              <a:chOff x="0" y="0"/>
              <a:chExt cx="1830071" cy="340238"/>
            </a:xfrm>
          </p:grpSpPr>
          <p:sp>
            <p:nvSpPr>
              <p:cNvPr id="8" name="Freeform 8"/>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9" name="TextBox 9"/>
              <p:cNvSpPr txBox="1"/>
              <p:nvPr/>
            </p:nvSpPr>
            <p:spPr>
              <a:xfrm>
                <a:off x="0" y="-38100"/>
                <a:ext cx="1830071" cy="378338"/>
              </a:xfrm>
              <a:prstGeom prst="rect">
                <a:avLst/>
              </a:prstGeom>
            </p:spPr>
            <p:txBody>
              <a:bodyPr lIns="50800" tIns="50800" rIns="50800" bIns="50800" rtlCol="0" anchor="ctr"/>
              <a:lstStyle/>
              <a:p>
                <a:pPr algn="ctr">
                  <a:lnSpc>
                    <a:spcPts val="2880"/>
                  </a:lnSpc>
                </a:pPr>
                <a:endParaRPr/>
              </a:p>
            </p:txBody>
          </p:sp>
        </p:grpSp>
        <p:sp>
          <p:nvSpPr>
            <p:cNvPr id="10" name="TextBox 10"/>
            <p:cNvSpPr txBox="1"/>
            <p:nvPr/>
          </p:nvSpPr>
          <p:spPr>
            <a:xfrm>
              <a:off x="-313188" y="146712"/>
              <a:ext cx="7991157" cy="1038319"/>
            </a:xfrm>
            <a:prstGeom prst="rect">
              <a:avLst/>
            </a:prstGeom>
          </p:spPr>
          <p:txBody>
            <a:bodyPr wrap="square"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Problem Definition</a:t>
              </a:r>
            </a:p>
          </p:txBody>
        </p:sp>
      </p:grpSp>
      <p:grpSp>
        <p:nvGrpSpPr>
          <p:cNvPr id="16" name="Group 16"/>
          <p:cNvGrpSpPr/>
          <p:nvPr/>
        </p:nvGrpSpPr>
        <p:grpSpPr>
          <a:xfrm>
            <a:off x="6014818" y="579263"/>
            <a:ext cx="10958043" cy="2153085"/>
            <a:chOff x="-192880" y="0"/>
            <a:chExt cx="14610723" cy="2870779"/>
          </a:xfrm>
        </p:grpSpPr>
        <p:sp>
          <p:nvSpPr>
            <p:cNvPr id="19" name="TextBox 19"/>
            <p:cNvSpPr txBox="1"/>
            <p:nvPr/>
          </p:nvSpPr>
          <p:spPr>
            <a:xfrm rot="16200000">
              <a:off x="5677092" y="-5869972"/>
              <a:ext cx="2870779" cy="14610723"/>
            </a:xfrm>
            <a:prstGeom prst="rect">
              <a:avLst/>
            </a:prstGeom>
          </p:spPr>
          <p:txBody>
            <a:bodyPr lIns="50800" tIns="50800" rIns="50800" bIns="50800" rtlCol="0" anchor="ctr"/>
            <a:lstStyle/>
            <a:p>
              <a:pPr algn="ctr">
                <a:lnSpc>
                  <a:spcPts val="2879"/>
                </a:lnSpc>
              </a:pPr>
              <a:endParaRPr/>
            </a:p>
          </p:txBody>
        </p:sp>
        <p:sp>
          <p:nvSpPr>
            <p:cNvPr id="20" name="TextBox 20"/>
            <p:cNvSpPr txBox="1"/>
            <p:nvPr/>
          </p:nvSpPr>
          <p:spPr>
            <a:xfrm>
              <a:off x="3096100" y="883250"/>
              <a:ext cx="8225644" cy="1038318"/>
            </a:xfrm>
            <a:prstGeom prst="rect">
              <a:avLst/>
            </a:prstGeom>
          </p:spPr>
          <p:txBody>
            <a:bodyPr lIns="0" tIns="0" rIns="0" bIns="0" rtlCol="0" anchor="t">
              <a:spAutoFit/>
            </a:bodyPr>
            <a:lstStyle/>
            <a:p>
              <a:pPr algn="ctr">
                <a:lnSpc>
                  <a:spcPts val="6494"/>
                </a:lnSpc>
              </a:pPr>
              <a:endParaRPr lang="en-US" sz="4638" b="1" dirty="0">
                <a:solidFill>
                  <a:srgbClr val="336EA8"/>
                </a:solidFill>
                <a:latin typeface="Canva Sans Bold"/>
                <a:ea typeface="Canva Sans Bold"/>
                <a:cs typeface="Canva Sans Bold"/>
                <a:sym typeface="Canva Sans Bold"/>
              </a:endParaRPr>
            </a:p>
          </p:txBody>
        </p:sp>
      </p:grpSp>
      <p:grpSp>
        <p:nvGrpSpPr>
          <p:cNvPr id="21" name="Group 21"/>
          <p:cNvGrpSpPr/>
          <p:nvPr/>
        </p:nvGrpSpPr>
        <p:grpSpPr>
          <a:xfrm rot="-5400000">
            <a:off x="7852880" y="161063"/>
            <a:ext cx="8447851" cy="10813382"/>
            <a:chOff x="0" y="0"/>
            <a:chExt cx="2028371" cy="2847969"/>
          </a:xfrm>
        </p:grpSpPr>
        <p:sp>
          <p:nvSpPr>
            <p:cNvPr id="22" name="Freeform 22"/>
            <p:cNvSpPr/>
            <p:nvPr/>
          </p:nvSpPr>
          <p:spPr>
            <a:xfrm>
              <a:off x="0" y="0"/>
              <a:ext cx="2028371" cy="2847969"/>
            </a:xfrm>
            <a:custGeom>
              <a:avLst/>
              <a:gdLst/>
              <a:ahLst/>
              <a:cxnLst/>
              <a:rect l="l" t="t" r="r" b="b"/>
              <a:pathLst>
                <a:path w="2028371" h="2847969">
                  <a:moveTo>
                    <a:pt x="51268" y="0"/>
                  </a:moveTo>
                  <a:lnTo>
                    <a:pt x="1977103" y="0"/>
                  </a:lnTo>
                  <a:cubicBezTo>
                    <a:pt x="2005417" y="0"/>
                    <a:pt x="2028371" y="22953"/>
                    <a:pt x="2028371" y="51268"/>
                  </a:cubicBezTo>
                  <a:lnTo>
                    <a:pt x="2028371" y="2796701"/>
                  </a:lnTo>
                  <a:cubicBezTo>
                    <a:pt x="2028371" y="2825015"/>
                    <a:pt x="2005417" y="2847969"/>
                    <a:pt x="1977103" y="2847969"/>
                  </a:cubicBezTo>
                  <a:lnTo>
                    <a:pt x="51268" y="2847969"/>
                  </a:lnTo>
                  <a:cubicBezTo>
                    <a:pt x="22953" y="2847969"/>
                    <a:pt x="0" y="2825015"/>
                    <a:pt x="0" y="2796701"/>
                  </a:cubicBezTo>
                  <a:lnTo>
                    <a:pt x="0" y="51268"/>
                  </a:lnTo>
                  <a:cubicBezTo>
                    <a:pt x="0" y="22953"/>
                    <a:pt x="22953" y="0"/>
                    <a:pt x="51268" y="0"/>
                  </a:cubicBezTo>
                  <a:close/>
                </a:path>
              </a:pathLst>
            </a:custGeom>
            <a:solidFill>
              <a:srgbClr val="84E4A8"/>
            </a:solidFill>
          </p:spPr>
          <p:txBody>
            <a:bodyPr/>
            <a:lstStyle/>
            <a:p>
              <a:endParaRPr lang="en-US"/>
            </a:p>
          </p:txBody>
        </p:sp>
        <p:sp>
          <p:nvSpPr>
            <p:cNvPr id="23" name="TextBox 23"/>
            <p:cNvSpPr txBox="1"/>
            <p:nvPr/>
          </p:nvSpPr>
          <p:spPr>
            <a:xfrm>
              <a:off x="0" y="-38100"/>
              <a:ext cx="2028371" cy="2886069"/>
            </a:xfrm>
            <a:prstGeom prst="rect">
              <a:avLst/>
            </a:prstGeom>
          </p:spPr>
          <p:txBody>
            <a:bodyPr lIns="50800" tIns="50800" rIns="50800" bIns="50800" rtlCol="0" anchor="ctr"/>
            <a:lstStyle/>
            <a:p>
              <a:pPr algn="ctr">
                <a:lnSpc>
                  <a:spcPts val="2879"/>
                </a:lnSpc>
              </a:pPr>
              <a:endParaRPr/>
            </a:p>
          </p:txBody>
        </p:sp>
      </p:grpSp>
      <p:pic>
        <p:nvPicPr>
          <p:cNvPr id="26" name="Picture 25">
            <a:extLst>
              <a:ext uri="{FF2B5EF4-FFF2-40B4-BE49-F238E27FC236}">
                <a16:creationId xmlns:a16="http://schemas.microsoft.com/office/drawing/2014/main" id="{7C98A9AD-B578-CFAA-D4BA-E06C08798CB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
        <p:nvSpPr>
          <p:cNvPr id="5" name="TextBox 4">
            <a:extLst>
              <a:ext uri="{FF2B5EF4-FFF2-40B4-BE49-F238E27FC236}">
                <a16:creationId xmlns:a16="http://schemas.microsoft.com/office/drawing/2014/main" id="{AD5C80B6-65AC-639B-60D2-1A08A1D0DB2E}"/>
              </a:ext>
            </a:extLst>
          </p:cNvPr>
          <p:cNvSpPr txBox="1"/>
          <p:nvPr/>
        </p:nvSpPr>
        <p:spPr>
          <a:xfrm>
            <a:off x="6992030" y="2476500"/>
            <a:ext cx="10535525" cy="6586418"/>
          </a:xfrm>
          <a:prstGeom prst="rect">
            <a:avLst/>
          </a:prstGeom>
          <a:noFill/>
        </p:spPr>
        <p:txBody>
          <a:bodyPr wrap="square" rtlCol="0">
            <a:spAutoFit/>
          </a:bodyPr>
          <a:lstStyle/>
          <a:p>
            <a:r>
              <a:rPr lang="en-US" sz="2400" b="1" dirty="0"/>
              <a:t>1.    Project Objective</a:t>
            </a:r>
          </a:p>
          <a:p>
            <a:pPr marL="457200" indent="-457200">
              <a:buFont typeface="Arial" panose="020B0604020202020204" pitchFamily="34" charset="0"/>
              <a:buChar char="•"/>
            </a:pPr>
            <a:r>
              <a:rPr lang="en-US" sz="2200" dirty="0"/>
              <a:t>To analyze the alignment between administrative planning and shop-floor operations to identify production bottlenecks and optimize resource utilization.</a:t>
            </a:r>
            <a:endParaRPr lang="en-US" sz="2200" b="1" dirty="0"/>
          </a:p>
          <a:p>
            <a:pPr marL="457200" indent="-457200">
              <a:buFont typeface="+mj-lt"/>
              <a:buAutoNum type="arabicPeriod"/>
            </a:pPr>
            <a:endParaRPr lang="en-US" sz="2200" b="1" dirty="0"/>
          </a:p>
          <a:p>
            <a:r>
              <a:rPr lang="en-US" sz="2400" b="1" dirty="0"/>
              <a:t>2.    Business Questions</a:t>
            </a:r>
          </a:p>
          <a:p>
            <a:pPr marL="457200" indent="-457200">
              <a:buFont typeface="Arial" panose="020B0604020202020204" pitchFamily="34" charset="0"/>
              <a:buChar char="•"/>
            </a:pPr>
            <a:r>
              <a:rPr lang="en-US" sz="2200" dirty="0"/>
              <a:t>  How does the actual production output compare to the administrative targets?</a:t>
            </a:r>
            <a:endParaRPr lang="en-US" sz="2200" b="1" dirty="0"/>
          </a:p>
          <a:p>
            <a:pPr marL="457200" indent="-457200">
              <a:buFont typeface="Arial" panose="020B0604020202020204" pitchFamily="34" charset="0"/>
              <a:buChar char="•"/>
            </a:pPr>
            <a:r>
              <a:rPr lang="en-US" sz="2200" dirty="0"/>
              <a:t>  What are the main causes of machine downtime or operational delays? </a:t>
            </a:r>
            <a:endParaRPr lang="en-US" sz="2200" b="1" dirty="0"/>
          </a:p>
          <a:p>
            <a:pPr marL="457200" indent="-457200">
              <a:buFont typeface="Arial" panose="020B0604020202020204" pitchFamily="34" charset="0"/>
              <a:buChar char="•"/>
            </a:pPr>
            <a:r>
              <a:rPr lang="en-US" sz="2200" dirty="0"/>
              <a:t>  Which production lines show the highest efficiency and which need maintenance?</a:t>
            </a:r>
            <a:endParaRPr lang="en-US" sz="2200" b="1" dirty="0"/>
          </a:p>
          <a:p>
            <a:pPr marL="457200" indent="-457200">
              <a:buFont typeface="+mj-lt"/>
              <a:buAutoNum type="arabicPeriod"/>
            </a:pPr>
            <a:endParaRPr lang="en-US" sz="2000" b="1" dirty="0"/>
          </a:p>
          <a:p>
            <a:r>
              <a:rPr lang="en-US" sz="2400" b="1" dirty="0"/>
              <a:t>3.    Key Performance Indicators – KPIs</a:t>
            </a:r>
          </a:p>
          <a:p>
            <a:pPr marL="457200" indent="-457200">
              <a:buFont typeface="Arial" panose="020B0604020202020204" pitchFamily="34" charset="0"/>
              <a:buChar char="•"/>
            </a:pPr>
            <a:r>
              <a:rPr lang="en-US" sz="2200" dirty="0"/>
              <a:t>OEE (Overall Equipment Effectiveness):</a:t>
            </a:r>
          </a:p>
          <a:p>
            <a:pPr marL="457200" indent="-457200">
              <a:buFont typeface="Arial" panose="020B0604020202020204" pitchFamily="34" charset="0"/>
              <a:buChar char="•"/>
            </a:pPr>
            <a:r>
              <a:rPr lang="en-US" sz="2200" dirty="0"/>
              <a:t>Production Yield: </a:t>
            </a:r>
          </a:p>
          <a:p>
            <a:pPr marL="457200" indent="-457200">
              <a:buFont typeface="Arial" panose="020B0604020202020204" pitchFamily="34" charset="0"/>
              <a:buChar char="•"/>
            </a:pPr>
            <a:r>
              <a:rPr lang="en-US" sz="2200" dirty="0"/>
              <a:t>Downtime Rate: </a:t>
            </a:r>
          </a:p>
          <a:p>
            <a:pPr marL="457200" indent="-457200">
              <a:buFont typeface="Arial" panose="020B0604020202020204" pitchFamily="34" charset="0"/>
              <a:buChar char="•"/>
            </a:pPr>
            <a:r>
              <a:rPr lang="en-US" sz="2200" dirty="0"/>
              <a:t>Cycle Time:</a:t>
            </a:r>
            <a:endParaRPr lang="en-US" sz="2200" b="1" dirty="0"/>
          </a:p>
          <a:p>
            <a:pPr marL="457200" indent="-457200">
              <a:buFont typeface="+mj-lt"/>
              <a:buAutoNum type="arabicPeriod"/>
            </a:pPr>
            <a:endParaRPr lang="en-US" sz="2000" b="1" dirty="0"/>
          </a:p>
          <a:p>
            <a:r>
              <a:rPr lang="en-US" sz="2400" b="1" dirty="0"/>
              <a:t>4.    Target Audience </a:t>
            </a:r>
          </a:p>
          <a:p>
            <a:pPr marL="457200" indent="-457200">
              <a:buFont typeface="Arial" panose="020B0604020202020204" pitchFamily="34" charset="0"/>
              <a:buChar char="•"/>
            </a:pPr>
            <a:r>
              <a:rPr lang="en-US" sz="2200" dirty="0"/>
              <a:t>Operations Managers </a:t>
            </a:r>
            <a:endParaRPr lang="en-US" sz="2200" b="1" dirty="0"/>
          </a:p>
          <a:p>
            <a:pPr marL="457200" indent="-457200">
              <a:buFont typeface="Arial" panose="020B0604020202020204" pitchFamily="34" charset="0"/>
              <a:buChar char="•"/>
            </a:pPr>
            <a:r>
              <a:rPr lang="en-US" sz="2200" dirty="0"/>
              <a:t>Production Supervisors</a:t>
            </a:r>
            <a:endParaRPr lang="en-US" sz="2200" b="1" dirty="0"/>
          </a:p>
          <a:p>
            <a:pPr marL="457200" indent="-457200">
              <a:buFont typeface="Arial" panose="020B0604020202020204" pitchFamily="34" charset="0"/>
              <a:buChar char="•"/>
            </a:pPr>
            <a:r>
              <a:rPr lang="en-US" sz="2200" dirty="0"/>
              <a:t>Supply Chain &amp; Administrative Planners</a:t>
            </a:r>
            <a:endParaRPr lang="en-US" sz="2200" b="1"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pic>
        <p:nvPicPr>
          <p:cNvPr id="26" name="Picture 25">
            <a:extLst>
              <a:ext uri="{FF2B5EF4-FFF2-40B4-BE49-F238E27FC236}">
                <a16:creationId xmlns:a16="http://schemas.microsoft.com/office/drawing/2014/main" id="{D784A034-59CE-848F-D5BA-ADF8F304501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grpSp>
        <p:nvGrpSpPr>
          <p:cNvPr id="5" name="Group 6">
            <a:extLst>
              <a:ext uri="{FF2B5EF4-FFF2-40B4-BE49-F238E27FC236}">
                <a16:creationId xmlns:a16="http://schemas.microsoft.com/office/drawing/2014/main" id="{58749499-FBBE-8401-771A-7A9D788697C4}"/>
              </a:ext>
            </a:extLst>
          </p:cNvPr>
          <p:cNvGrpSpPr/>
          <p:nvPr/>
        </p:nvGrpSpPr>
        <p:grpSpPr>
          <a:xfrm>
            <a:off x="184518" y="4948100"/>
            <a:ext cx="5372394" cy="998808"/>
            <a:chOff x="0" y="0"/>
            <a:chExt cx="1830071" cy="340238"/>
          </a:xfrm>
        </p:grpSpPr>
        <p:sp>
          <p:nvSpPr>
            <p:cNvPr id="27" name="Freeform 7">
              <a:extLst>
                <a:ext uri="{FF2B5EF4-FFF2-40B4-BE49-F238E27FC236}">
                  <a16:creationId xmlns:a16="http://schemas.microsoft.com/office/drawing/2014/main" id="{CA1BFEB6-805E-D8E9-54D9-AE67C4E987FA}"/>
                </a:ext>
              </a:extLst>
            </p:cNvPr>
            <p:cNvSpPr/>
            <p:nvPr/>
          </p:nvSpPr>
          <p:spPr>
            <a:xfrm>
              <a:off x="0" y="0"/>
              <a:ext cx="1830071" cy="340238"/>
            </a:xfrm>
            <a:custGeom>
              <a:avLst/>
              <a:gdLst/>
              <a:ahLst/>
              <a:cxnLst/>
              <a:rect l="l" t="t" r="r" b="b"/>
              <a:pathLst>
                <a:path w="1830071" h="340238">
                  <a:moveTo>
                    <a:pt x="73494" y="0"/>
                  </a:moveTo>
                  <a:lnTo>
                    <a:pt x="1756578" y="0"/>
                  </a:lnTo>
                  <a:cubicBezTo>
                    <a:pt x="1776069" y="0"/>
                    <a:pt x="1794763" y="7743"/>
                    <a:pt x="1808546" y="21526"/>
                  </a:cubicBezTo>
                  <a:cubicBezTo>
                    <a:pt x="1822328" y="35309"/>
                    <a:pt x="1830071" y="54002"/>
                    <a:pt x="1830071" y="73494"/>
                  </a:cubicBezTo>
                  <a:lnTo>
                    <a:pt x="1830071" y="266744"/>
                  </a:lnTo>
                  <a:cubicBezTo>
                    <a:pt x="1830071" y="307333"/>
                    <a:pt x="1797167" y="340238"/>
                    <a:pt x="1756578" y="340238"/>
                  </a:cubicBezTo>
                  <a:lnTo>
                    <a:pt x="73494" y="340238"/>
                  </a:lnTo>
                  <a:cubicBezTo>
                    <a:pt x="32904" y="340238"/>
                    <a:pt x="0" y="307333"/>
                    <a:pt x="0" y="266744"/>
                  </a:cubicBezTo>
                  <a:lnTo>
                    <a:pt x="0" y="73494"/>
                  </a:lnTo>
                  <a:cubicBezTo>
                    <a:pt x="0" y="32904"/>
                    <a:pt x="32904" y="0"/>
                    <a:pt x="73494" y="0"/>
                  </a:cubicBezTo>
                  <a:close/>
                </a:path>
              </a:pathLst>
            </a:custGeom>
            <a:solidFill>
              <a:srgbClr val="84E4A8"/>
            </a:solidFill>
          </p:spPr>
          <p:txBody>
            <a:bodyPr/>
            <a:lstStyle/>
            <a:p>
              <a:endParaRPr lang="en-US"/>
            </a:p>
          </p:txBody>
        </p:sp>
        <p:sp>
          <p:nvSpPr>
            <p:cNvPr id="28" name="TextBox 8">
              <a:extLst>
                <a:ext uri="{FF2B5EF4-FFF2-40B4-BE49-F238E27FC236}">
                  <a16:creationId xmlns:a16="http://schemas.microsoft.com/office/drawing/2014/main" id="{B0746306-E589-A5DC-B951-37F7CA25675D}"/>
                </a:ext>
              </a:extLst>
            </p:cNvPr>
            <p:cNvSpPr txBox="1"/>
            <p:nvPr/>
          </p:nvSpPr>
          <p:spPr>
            <a:xfrm>
              <a:off x="0" y="-38100"/>
              <a:ext cx="1830071" cy="378338"/>
            </a:xfrm>
            <a:prstGeom prst="rect">
              <a:avLst/>
            </a:prstGeom>
          </p:spPr>
          <p:txBody>
            <a:bodyPr lIns="39277" tIns="39277" rIns="39277" bIns="39277" rtlCol="0" anchor="ctr"/>
            <a:lstStyle/>
            <a:p>
              <a:pPr algn="ctr">
                <a:lnSpc>
                  <a:spcPts val="2879"/>
                </a:lnSpc>
              </a:pPr>
              <a:endParaRPr/>
            </a:p>
          </p:txBody>
        </p:sp>
      </p:grpSp>
      <p:sp>
        <p:nvSpPr>
          <p:cNvPr id="30" name="TextBox 29">
            <a:extLst>
              <a:ext uri="{FF2B5EF4-FFF2-40B4-BE49-F238E27FC236}">
                <a16:creationId xmlns:a16="http://schemas.microsoft.com/office/drawing/2014/main" id="{68DA58A6-A960-8EE6-579C-6BCD63095758}"/>
              </a:ext>
            </a:extLst>
          </p:cNvPr>
          <p:cNvSpPr txBox="1"/>
          <p:nvPr/>
        </p:nvSpPr>
        <p:spPr>
          <a:xfrm>
            <a:off x="-265928" y="4948100"/>
            <a:ext cx="6273285" cy="836639"/>
          </a:xfrm>
          <a:prstGeom prst="rect">
            <a:avLst/>
          </a:prstGeom>
          <a:noFill/>
        </p:spPr>
        <p:txBody>
          <a:bodyPr wrap="square">
            <a:spAutoFit/>
          </a:bodyPr>
          <a:lstStyle/>
          <a:p>
            <a:pPr algn="ctr">
              <a:lnSpc>
                <a:spcPts val="6494"/>
              </a:lnSpc>
            </a:pPr>
            <a:r>
              <a:rPr lang="en-US" sz="3600" b="1" dirty="0">
                <a:solidFill>
                  <a:srgbClr val="336EA8"/>
                </a:solidFill>
                <a:latin typeface="Canva Sans Bold"/>
                <a:ea typeface="Canva Sans Bold"/>
                <a:cs typeface="Canva Sans Bold"/>
                <a:sym typeface="Canva Sans Bold"/>
              </a:rPr>
              <a:t>Data Acquisition</a:t>
            </a:r>
          </a:p>
        </p:txBody>
      </p:sp>
      <p:grpSp>
        <p:nvGrpSpPr>
          <p:cNvPr id="31" name="Group 21">
            <a:extLst>
              <a:ext uri="{FF2B5EF4-FFF2-40B4-BE49-F238E27FC236}">
                <a16:creationId xmlns:a16="http://schemas.microsoft.com/office/drawing/2014/main" id="{A8DEED55-3615-F471-85CD-B4A8CD8A182A}"/>
              </a:ext>
            </a:extLst>
          </p:cNvPr>
          <p:cNvGrpSpPr/>
          <p:nvPr/>
        </p:nvGrpSpPr>
        <p:grpSpPr>
          <a:xfrm rot="-5400000">
            <a:off x="7852880" y="161063"/>
            <a:ext cx="8447851" cy="10813382"/>
            <a:chOff x="0" y="0"/>
            <a:chExt cx="2028371" cy="2847969"/>
          </a:xfrm>
        </p:grpSpPr>
        <p:sp>
          <p:nvSpPr>
            <p:cNvPr id="32" name="Freeform 22">
              <a:extLst>
                <a:ext uri="{FF2B5EF4-FFF2-40B4-BE49-F238E27FC236}">
                  <a16:creationId xmlns:a16="http://schemas.microsoft.com/office/drawing/2014/main" id="{BD969BEB-CCF1-9C52-6127-147C80E39ED9}"/>
                </a:ext>
              </a:extLst>
            </p:cNvPr>
            <p:cNvSpPr/>
            <p:nvPr/>
          </p:nvSpPr>
          <p:spPr>
            <a:xfrm>
              <a:off x="0" y="0"/>
              <a:ext cx="2028371" cy="2847969"/>
            </a:xfrm>
            <a:custGeom>
              <a:avLst/>
              <a:gdLst/>
              <a:ahLst/>
              <a:cxnLst/>
              <a:rect l="l" t="t" r="r" b="b"/>
              <a:pathLst>
                <a:path w="2028371" h="2847969">
                  <a:moveTo>
                    <a:pt x="51268" y="0"/>
                  </a:moveTo>
                  <a:lnTo>
                    <a:pt x="1977103" y="0"/>
                  </a:lnTo>
                  <a:cubicBezTo>
                    <a:pt x="2005417" y="0"/>
                    <a:pt x="2028371" y="22953"/>
                    <a:pt x="2028371" y="51268"/>
                  </a:cubicBezTo>
                  <a:lnTo>
                    <a:pt x="2028371" y="2796701"/>
                  </a:lnTo>
                  <a:cubicBezTo>
                    <a:pt x="2028371" y="2825015"/>
                    <a:pt x="2005417" y="2847969"/>
                    <a:pt x="1977103" y="2847969"/>
                  </a:cubicBezTo>
                  <a:lnTo>
                    <a:pt x="51268" y="2847969"/>
                  </a:lnTo>
                  <a:cubicBezTo>
                    <a:pt x="22953" y="2847969"/>
                    <a:pt x="0" y="2825015"/>
                    <a:pt x="0" y="2796701"/>
                  </a:cubicBezTo>
                  <a:lnTo>
                    <a:pt x="0" y="51268"/>
                  </a:lnTo>
                  <a:cubicBezTo>
                    <a:pt x="0" y="22953"/>
                    <a:pt x="22953" y="0"/>
                    <a:pt x="51268" y="0"/>
                  </a:cubicBezTo>
                  <a:close/>
                </a:path>
              </a:pathLst>
            </a:custGeom>
            <a:solidFill>
              <a:srgbClr val="84E4A8"/>
            </a:solidFill>
          </p:spPr>
          <p:txBody>
            <a:bodyPr/>
            <a:lstStyle/>
            <a:p>
              <a:endParaRPr lang="en-US"/>
            </a:p>
          </p:txBody>
        </p:sp>
        <p:sp>
          <p:nvSpPr>
            <p:cNvPr id="33" name="TextBox 23">
              <a:extLst>
                <a:ext uri="{FF2B5EF4-FFF2-40B4-BE49-F238E27FC236}">
                  <a16:creationId xmlns:a16="http://schemas.microsoft.com/office/drawing/2014/main" id="{53A928C5-AE60-84A3-24C3-5CF6C9AC7634}"/>
                </a:ext>
              </a:extLst>
            </p:cNvPr>
            <p:cNvSpPr txBox="1"/>
            <p:nvPr/>
          </p:nvSpPr>
          <p:spPr>
            <a:xfrm>
              <a:off x="0" y="-38100"/>
              <a:ext cx="2028371" cy="2886069"/>
            </a:xfrm>
            <a:prstGeom prst="rect">
              <a:avLst/>
            </a:prstGeom>
          </p:spPr>
          <p:txBody>
            <a:bodyPr lIns="50800" tIns="50800" rIns="50800" bIns="50800" rtlCol="0" anchor="ctr"/>
            <a:lstStyle/>
            <a:p>
              <a:pPr algn="ctr">
                <a:lnSpc>
                  <a:spcPts val="2879"/>
                </a:lnSpc>
              </a:pPr>
              <a:endParaRPr/>
            </a:p>
          </p:txBody>
        </p:sp>
      </p:grpSp>
      <p:sp>
        <p:nvSpPr>
          <p:cNvPr id="35" name="TextBox 34">
            <a:extLst>
              <a:ext uri="{FF2B5EF4-FFF2-40B4-BE49-F238E27FC236}">
                <a16:creationId xmlns:a16="http://schemas.microsoft.com/office/drawing/2014/main" id="{0596A3D1-EA18-EDB8-E821-AA8028BDF4C4}"/>
              </a:ext>
            </a:extLst>
          </p:cNvPr>
          <p:cNvSpPr txBox="1"/>
          <p:nvPr/>
        </p:nvSpPr>
        <p:spPr>
          <a:xfrm>
            <a:off x="7239000" y="2818647"/>
            <a:ext cx="9906000" cy="4893647"/>
          </a:xfrm>
          <a:prstGeom prst="rect">
            <a:avLst/>
          </a:prstGeom>
          <a:noFill/>
        </p:spPr>
        <p:txBody>
          <a:bodyPr wrap="square">
            <a:spAutoFit/>
          </a:bodyPr>
          <a:lstStyle/>
          <a:p>
            <a:r>
              <a:rPr lang="ar-EG" sz="2400" b="1" dirty="0"/>
              <a:t> .1</a:t>
            </a:r>
            <a:r>
              <a:rPr lang="en-US" sz="2400" b="1" dirty="0"/>
              <a:t>Administrative Data (Internal):</a:t>
            </a:r>
            <a:endParaRPr lang="ar-EG" sz="2400" b="1" dirty="0"/>
          </a:p>
          <a:p>
            <a:pPr marL="342900" indent="-342900">
              <a:buFont typeface="Arial" panose="020B0604020202020204" pitchFamily="34" charset="0"/>
              <a:buChar char="•"/>
            </a:pPr>
            <a:r>
              <a:rPr lang="en-US" sz="2400" dirty="0"/>
              <a:t> Consists of organizational data from the initiative, including production </a:t>
            </a:r>
            <a:r>
              <a:rPr lang="ar-EG" sz="2400" dirty="0"/>
              <a:t>   </a:t>
            </a:r>
          </a:p>
          <a:p>
            <a:r>
              <a:rPr lang="ar-EG" sz="2400" dirty="0"/>
              <a:t>     </a:t>
            </a:r>
            <a:r>
              <a:rPr lang="en-US" sz="2400" dirty="0"/>
              <a:t>targets, employee shifts, and resource schedules.</a:t>
            </a:r>
            <a:endParaRPr lang="ar-EG" sz="2400" dirty="0"/>
          </a:p>
          <a:p>
            <a:endParaRPr lang="ar-EG" sz="2400" dirty="0"/>
          </a:p>
          <a:p>
            <a:endParaRPr lang="en-US" sz="2400" dirty="0"/>
          </a:p>
          <a:p>
            <a:r>
              <a:rPr lang="ar-EG" sz="2400" b="1" dirty="0"/>
              <a:t> .2</a:t>
            </a:r>
            <a:r>
              <a:rPr lang="en-US" sz="2400" b="1" dirty="0"/>
              <a:t>Operational Data (External):</a:t>
            </a:r>
            <a:r>
              <a:rPr lang="en-US" sz="2400" dirty="0"/>
              <a:t> </a:t>
            </a:r>
            <a:endParaRPr lang="ar-EG" sz="2400" dirty="0"/>
          </a:p>
          <a:p>
            <a:pPr marL="342900" indent="-342900">
              <a:buFont typeface="Arial" panose="020B0604020202020204" pitchFamily="34" charset="0"/>
              <a:buChar char="•"/>
            </a:pPr>
            <a:r>
              <a:rPr lang="en-US" sz="2400" dirty="0"/>
              <a:t>Sourced from Kaggle, consisting of real-time machine performance, sensor readings (temperature/pressure), and actual production output.</a:t>
            </a:r>
            <a:endParaRPr lang="ar-EG" sz="2400" dirty="0"/>
          </a:p>
          <a:p>
            <a:pPr marL="342900" indent="-342900">
              <a:buFont typeface="Arial" panose="020B0604020202020204" pitchFamily="34" charset="0"/>
              <a:buChar char="•"/>
            </a:pPr>
            <a:endParaRPr lang="ar-EG" sz="2400" dirty="0"/>
          </a:p>
          <a:p>
            <a:pPr marL="342900" indent="-342900">
              <a:buFont typeface="Arial" panose="020B0604020202020204" pitchFamily="34" charset="0"/>
              <a:buChar char="•"/>
            </a:pPr>
            <a:endParaRPr lang="en-US" sz="2400" dirty="0"/>
          </a:p>
          <a:p>
            <a:r>
              <a:rPr lang="ar-EG" sz="2400" b="1" dirty="0"/>
              <a:t>  .3</a:t>
            </a:r>
            <a:r>
              <a:rPr lang="en-US" sz="2400" b="1" dirty="0"/>
              <a:t>Method:</a:t>
            </a:r>
            <a:r>
              <a:rPr lang="en-US" sz="2400" dirty="0"/>
              <a:t> </a:t>
            </a:r>
            <a:endParaRPr lang="ar-EG" sz="2400" dirty="0"/>
          </a:p>
          <a:p>
            <a:pPr marL="342900" indent="-342900">
              <a:buFont typeface="Arial" panose="020B0604020202020204" pitchFamily="34" charset="0"/>
              <a:buChar char="•"/>
            </a:pPr>
            <a:r>
              <a:rPr lang="en-US" sz="2400" dirty="0"/>
              <a:t>Data was extracted and imported into </a:t>
            </a:r>
            <a:r>
              <a:rPr lang="en-US" sz="2400" b="1" dirty="0"/>
              <a:t>Power BI</a:t>
            </a:r>
            <a:r>
              <a:rPr lang="en-US" sz="2400" dirty="0"/>
              <a:t> using </a:t>
            </a:r>
            <a:r>
              <a:rPr lang="en-US" sz="2400" b="1" dirty="0"/>
              <a:t>Power Query</a:t>
            </a:r>
            <a:r>
              <a:rPr lang="en-US" sz="2400" dirty="0"/>
              <a:t> to integrate internal administrative files with external operational datasets.</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3"/>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4"/>
            <a:stretch>
              <a:fillRect b="-2"/>
            </a:stretch>
          </a:blipFill>
        </p:spPr>
        <p:txBody>
          <a:bodyPr/>
          <a:lstStyle/>
          <a:p>
            <a:endParaRPr lang="en-US"/>
          </a:p>
        </p:txBody>
      </p:sp>
      <p:grpSp>
        <p:nvGrpSpPr>
          <p:cNvPr id="6" name="Group 6"/>
          <p:cNvGrpSpPr/>
          <p:nvPr/>
        </p:nvGrpSpPr>
        <p:grpSpPr>
          <a:xfrm>
            <a:off x="6457803" y="212753"/>
            <a:ext cx="5372394" cy="998808"/>
            <a:chOff x="0" y="0"/>
            <a:chExt cx="7163192" cy="1331744"/>
          </a:xfrm>
        </p:grpSpPr>
        <p:grpSp>
          <p:nvGrpSpPr>
            <p:cNvPr id="7" name="Group 7"/>
            <p:cNvGrpSpPr/>
            <p:nvPr/>
          </p:nvGrpSpPr>
          <p:grpSpPr>
            <a:xfrm>
              <a:off x="0" y="0"/>
              <a:ext cx="7163192" cy="1331744"/>
              <a:chOff x="0" y="0"/>
              <a:chExt cx="1830071" cy="340238"/>
            </a:xfrm>
          </p:grpSpPr>
          <p:sp>
            <p:nvSpPr>
              <p:cNvPr id="8" name="Freeform 8"/>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9" name="TextBox 9"/>
              <p:cNvSpPr txBox="1"/>
              <p:nvPr/>
            </p:nvSpPr>
            <p:spPr>
              <a:xfrm>
                <a:off x="0" y="-38100"/>
                <a:ext cx="1830071" cy="378338"/>
              </a:xfrm>
              <a:prstGeom prst="rect">
                <a:avLst/>
              </a:prstGeom>
            </p:spPr>
            <p:txBody>
              <a:bodyPr lIns="50800" tIns="50800" rIns="50800" bIns="50800" rtlCol="0" anchor="ctr"/>
              <a:lstStyle/>
              <a:p>
                <a:pPr algn="ctr">
                  <a:lnSpc>
                    <a:spcPts val="2880"/>
                  </a:lnSpc>
                </a:pPr>
                <a:endParaRPr/>
              </a:p>
            </p:txBody>
          </p:sp>
        </p:grpSp>
        <p:sp>
          <p:nvSpPr>
            <p:cNvPr id="10" name="TextBox 10"/>
            <p:cNvSpPr txBox="1"/>
            <p:nvPr/>
          </p:nvSpPr>
          <p:spPr>
            <a:xfrm>
              <a:off x="1271009" y="113735"/>
              <a:ext cx="4688184" cy="1038319"/>
            </a:xfrm>
            <a:prstGeom prst="rect">
              <a:avLst/>
            </a:prstGeom>
          </p:spPr>
          <p:txBody>
            <a:bodyPr wrap="square" lIns="0" tIns="0" rIns="0" bIns="0" rtlCol="0" anchor="t">
              <a:spAutoFit/>
            </a:bodyPr>
            <a:lstStyle/>
            <a:p>
              <a:pPr algn="ctr">
                <a:lnSpc>
                  <a:spcPts val="6494"/>
                </a:lnSpc>
              </a:pPr>
              <a:endParaRPr lang="en-US" sz="4638" b="1" dirty="0">
                <a:solidFill>
                  <a:srgbClr val="336EA8"/>
                </a:solidFill>
                <a:latin typeface="Canva Sans Bold"/>
                <a:ea typeface="Canva Sans Bold"/>
                <a:cs typeface="Canva Sans Bold"/>
                <a:sym typeface="Canva Sans Bold"/>
              </a:endParaRPr>
            </a:p>
          </p:txBody>
        </p:sp>
      </p:grpSp>
      <p:pic>
        <p:nvPicPr>
          <p:cNvPr id="25" name="Picture 24">
            <a:extLst>
              <a:ext uri="{FF2B5EF4-FFF2-40B4-BE49-F238E27FC236}">
                <a16:creationId xmlns:a16="http://schemas.microsoft.com/office/drawing/2014/main" id="{EF05E190-15E8-B3C0-6249-C79092B778D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
        <p:nvSpPr>
          <p:cNvPr id="27" name="TextBox 23">
            <a:extLst>
              <a:ext uri="{FF2B5EF4-FFF2-40B4-BE49-F238E27FC236}">
                <a16:creationId xmlns:a16="http://schemas.microsoft.com/office/drawing/2014/main" id="{2C245998-6B53-A1D6-A841-43BB621C2127}"/>
              </a:ext>
            </a:extLst>
          </p:cNvPr>
          <p:cNvSpPr txBox="1"/>
          <p:nvPr/>
        </p:nvSpPr>
        <p:spPr>
          <a:xfrm rot="16200000">
            <a:off x="7780550" y="88733"/>
            <a:ext cx="8447851" cy="10958043"/>
          </a:xfrm>
          <a:prstGeom prst="rect">
            <a:avLst/>
          </a:prstGeom>
        </p:spPr>
        <p:txBody>
          <a:bodyPr lIns="50800" tIns="50800" rIns="50800" bIns="50800" rtlCol="0" anchor="ctr"/>
          <a:lstStyle/>
          <a:p>
            <a:pPr algn="ctr">
              <a:lnSpc>
                <a:spcPts val="2879"/>
              </a:lnSpc>
            </a:pPr>
            <a:endParaRPr/>
          </a:p>
        </p:txBody>
      </p:sp>
      <p:sp>
        <p:nvSpPr>
          <p:cNvPr id="29" name="TextBox 28">
            <a:extLst>
              <a:ext uri="{FF2B5EF4-FFF2-40B4-BE49-F238E27FC236}">
                <a16:creationId xmlns:a16="http://schemas.microsoft.com/office/drawing/2014/main" id="{29F0914F-ECC8-FE66-5034-68894A40215B}"/>
              </a:ext>
            </a:extLst>
          </p:cNvPr>
          <p:cNvSpPr txBox="1"/>
          <p:nvPr/>
        </p:nvSpPr>
        <p:spPr>
          <a:xfrm>
            <a:off x="7239000" y="212753"/>
            <a:ext cx="3810000" cy="836639"/>
          </a:xfrm>
          <a:prstGeom prst="rect">
            <a:avLst/>
          </a:prstGeom>
          <a:noFill/>
        </p:spPr>
        <p:txBody>
          <a:bodyPr wrap="square">
            <a:spAutoFit/>
          </a:bodyPr>
          <a:lstStyle/>
          <a:p>
            <a:pPr algn="ctr">
              <a:lnSpc>
                <a:spcPts val="6494"/>
              </a:lnSpc>
            </a:pPr>
            <a:r>
              <a:rPr lang="en-US" sz="3600" b="1" dirty="0">
                <a:solidFill>
                  <a:srgbClr val="336EA8"/>
                </a:solidFill>
                <a:latin typeface="Canva Sans Bold"/>
                <a:ea typeface="Canva Sans Bold"/>
                <a:cs typeface="Canva Sans Bold"/>
                <a:sym typeface="Canva Sans Bold"/>
              </a:rPr>
              <a:t>Data Cleaning</a:t>
            </a:r>
          </a:p>
        </p:txBody>
      </p:sp>
      <p:grpSp>
        <p:nvGrpSpPr>
          <p:cNvPr id="33" name="Group 6">
            <a:extLst>
              <a:ext uri="{FF2B5EF4-FFF2-40B4-BE49-F238E27FC236}">
                <a16:creationId xmlns:a16="http://schemas.microsoft.com/office/drawing/2014/main" id="{FA78AD69-FCA4-3230-BAE8-9C49DE1CB455}"/>
              </a:ext>
            </a:extLst>
          </p:cNvPr>
          <p:cNvGrpSpPr/>
          <p:nvPr/>
        </p:nvGrpSpPr>
        <p:grpSpPr>
          <a:xfrm>
            <a:off x="1525777" y="1900606"/>
            <a:ext cx="5372394" cy="998808"/>
            <a:chOff x="0" y="0"/>
            <a:chExt cx="7163192" cy="1331744"/>
          </a:xfrm>
        </p:grpSpPr>
        <p:grpSp>
          <p:nvGrpSpPr>
            <p:cNvPr id="34" name="Group 7">
              <a:extLst>
                <a:ext uri="{FF2B5EF4-FFF2-40B4-BE49-F238E27FC236}">
                  <a16:creationId xmlns:a16="http://schemas.microsoft.com/office/drawing/2014/main" id="{9F60DCB6-B029-43A9-117C-CBCA39DCEB9C}"/>
                </a:ext>
              </a:extLst>
            </p:cNvPr>
            <p:cNvGrpSpPr/>
            <p:nvPr/>
          </p:nvGrpSpPr>
          <p:grpSpPr>
            <a:xfrm>
              <a:off x="0" y="0"/>
              <a:ext cx="7163192" cy="1331744"/>
              <a:chOff x="0" y="0"/>
              <a:chExt cx="1830071" cy="340238"/>
            </a:xfrm>
          </p:grpSpPr>
          <p:sp>
            <p:nvSpPr>
              <p:cNvPr id="36" name="Freeform 8">
                <a:extLst>
                  <a:ext uri="{FF2B5EF4-FFF2-40B4-BE49-F238E27FC236}">
                    <a16:creationId xmlns:a16="http://schemas.microsoft.com/office/drawing/2014/main" id="{4AC738A7-574E-4294-462B-1EE5598798D8}"/>
                  </a:ext>
                </a:extLst>
              </p:cNvPr>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37" name="TextBox 9">
                <a:extLst>
                  <a:ext uri="{FF2B5EF4-FFF2-40B4-BE49-F238E27FC236}">
                    <a16:creationId xmlns:a16="http://schemas.microsoft.com/office/drawing/2014/main" id="{F5B8DBBA-E4F3-C3D7-EF09-7353B0BAD0F1}"/>
                  </a:ext>
                </a:extLst>
              </p:cNvPr>
              <p:cNvSpPr txBox="1"/>
              <p:nvPr/>
            </p:nvSpPr>
            <p:spPr>
              <a:xfrm>
                <a:off x="0" y="-38100"/>
                <a:ext cx="1830071" cy="378338"/>
              </a:xfrm>
              <a:prstGeom prst="rect">
                <a:avLst/>
              </a:prstGeom>
            </p:spPr>
            <p:txBody>
              <a:bodyPr lIns="50800" tIns="50800" rIns="50800" bIns="50800" rtlCol="0" anchor="ctr"/>
              <a:lstStyle/>
              <a:p>
                <a:pPr algn="ctr">
                  <a:lnSpc>
                    <a:spcPts val="2880"/>
                  </a:lnSpc>
                </a:pPr>
                <a:endParaRPr/>
              </a:p>
            </p:txBody>
          </p:sp>
        </p:grpSp>
        <p:sp>
          <p:nvSpPr>
            <p:cNvPr id="35" name="TextBox 10">
              <a:extLst>
                <a:ext uri="{FF2B5EF4-FFF2-40B4-BE49-F238E27FC236}">
                  <a16:creationId xmlns:a16="http://schemas.microsoft.com/office/drawing/2014/main" id="{ABAA16CF-EE90-DFD8-6CA1-D5A2F0A257E2}"/>
                </a:ext>
              </a:extLst>
            </p:cNvPr>
            <p:cNvSpPr txBox="1"/>
            <p:nvPr/>
          </p:nvSpPr>
          <p:spPr>
            <a:xfrm>
              <a:off x="1271009" y="113735"/>
              <a:ext cx="4688184" cy="1038319"/>
            </a:xfrm>
            <a:prstGeom prst="rect">
              <a:avLst/>
            </a:prstGeom>
          </p:spPr>
          <p:txBody>
            <a:bodyPr wrap="square" lIns="0" tIns="0" rIns="0" bIns="0" rtlCol="0" anchor="t">
              <a:spAutoFit/>
            </a:bodyPr>
            <a:lstStyle/>
            <a:p>
              <a:pPr algn="ctr">
                <a:lnSpc>
                  <a:spcPts val="6494"/>
                </a:lnSpc>
              </a:pPr>
              <a:endParaRPr lang="en-US" sz="4638" b="1" dirty="0">
                <a:solidFill>
                  <a:srgbClr val="336EA8"/>
                </a:solidFill>
                <a:latin typeface="Canva Sans Bold"/>
                <a:ea typeface="Canva Sans Bold"/>
                <a:cs typeface="Canva Sans Bold"/>
                <a:sym typeface="Canva Sans Bold"/>
              </a:endParaRPr>
            </a:p>
          </p:txBody>
        </p:sp>
      </p:grpSp>
      <p:grpSp>
        <p:nvGrpSpPr>
          <p:cNvPr id="38" name="Group 6">
            <a:extLst>
              <a:ext uri="{FF2B5EF4-FFF2-40B4-BE49-F238E27FC236}">
                <a16:creationId xmlns:a16="http://schemas.microsoft.com/office/drawing/2014/main" id="{3A4B6521-ABE5-681B-334E-388FB4E1AD2C}"/>
              </a:ext>
            </a:extLst>
          </p:cNvPr>
          <p:cNvGrpSpPr/>
          <p:nvPr/>
        </p:nvGrpSpPr>
        <p:grpSpPr>
          <a:xfrm>
            <a:off x="11188976" y="1900606"/>
            <a:ext cx="5372394" cy="998808"/>
            <a:chOff x="0" y="0"/>
            <a:chExt cx="7163192" cy="1331744"/>
          </a:xfrm>
        </p:grpSpPr>
        <p:grpSp>
          <p:nvGrpSpPr>
            <p:cNvPr id="39" name="Group 7">
              <a:extLst>
                <a:ext uri="{FF2B5EF4-FFF2-40B4-BE49-F238E27FC236}">
                  <a16:creationId xmlns:a16="http://schemas.microsoft.com/office/drawing/2014/main" id="{6A8BD4CE-58CE-9BD5-A5EB-B033BE0A2B51}"/>
                </a:ext>
              </a:extLst>
            </p:cNvPr>
            <p:cNvGrpSpPr/>
            <p:nvPr/>
          </p:nvGrpSpPr>
          <p:grpSpPr>
            <a:xfrm>
              <a:off x="0" y="0"/>
              <a:ext cx="7163192" cy="1331744"/>
              <a:chOff x="0" y="0"/>
              <a:chExt cx="1830071" cy="340238"/>
            </a:xfrm>
          </p:grpSpPr>
          <p:sp>
            <p:nvSpPr>
              <p:cNvPr id="41" name="Freeform 8">
                <a:extLst>
                  <a:ext uri="{FF2B5EF4-FFF2-40B4-BE49-F238E27FC236}">
                    <a16:creationId xmlns:a16="http://schemas.microsoft.com/office/drawing/2014/main" id="{319D1B68-3965-F1CD-F320-4A7D2D5CB56A}"/>
                  </a:ext>
                </a:extLst>
              </p:cNvPr>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42" name="TextBox 9">
                <a:extLst>
                  <a:ext uri="{FF2B5EF4-FFF2-40B4-BE49-F238E27FC236}">
                    <a16:creationId xmlns:a16="http://schemas.microsoft.com/office/drawing/2014/main" id="{15ECCC70-C633-4A86-DC31-D818095E6321}"/>
                  </a:ext>
                </a:extLst>
              </p:cNvPr>
              <p:cNvSpPr txBox="1"/>
              <p:nvPr/>
            </p:nvSpPr>
            <p:spPr>
              <a:xfrm>
                <a:off x="0" y="-38100"/>
                <a:ext cx="1830071" cy="378338"/>
              </a:xfrm>
              <a:prstGeom prst="rect">
                <a:avLst/>
              </a:prstGeom>
            </p:spPr>
            <p:txBody>
              <a:bodyPr lIns="50800" tIns="50800" rIns="50800" bIns="50800" rtlCol="0" anchor="ctr"/>
              <a:lstStyle/>
              <a:p>
                <a:pPr algn="ctr">
                  <a:lnSpc>
                    <a:spcPts val="2880"/>
                  </a:lnSpc>
                </a:pPr>
                <a:endParaRPr/>
              </a:p>
            </p:txBody>
          </p:sp>
        </p:grpSp>
        <p:sp>
          <p:nvSpPr>
            <p:cNvPr id="40" name="TextBox 10">
              <a:extLst>
                <a:ext uri="{FF2B5EF4-FFF2-40B4-BE49-F238E27FC236}">
                  <a16:creationId xmlns:a16="http://schemas.microsoft.com/office/drawing/2014/main" id="{75106D44-366C-753C-AD20-A8B953C312EB}"/>
                </a:ext>
              </a:extLst>
            </p:cNvPr>
            <p:cNvSpPr txBox="1"/>
            <p:nvPr/>
          </p:nvSpPr>
          <p:spPr>
            <a:xfrm>
              <a:off x="1271009" y="113735"/>
              <a:ext cx="4688184" cy="1038319"/>
            </a:xfrm>
            <a:prstGeom prst="rect">
              <a:avLst/>
            </a:prstGeom>
          </p:spPr>
          <p:txBody>
            <a:bodyPr wrap="square" lIns="0" tIns="0" rIns="0" bIns="0" rtlCol="0" anchor="t">
              <a:spAutoFit/>
            </a:bodyPr>
            <a:lstStyle/>
            <a:p>
              <a:pPr algn="ctr">
                <a:lnSpc>
                  <a:spcPts val="6494"/>
                </a:lnSpc>
              </a:pPr>
              <a:endParaRPr lang="en-US" sz="4638" b="1" dirty="0">
                <a:solidFill>
                  <a:srgbClr val="336EA8"/>
                </a:solidFill>
                <a:latin typeface="Canva Sans Bold"/>
                <a:ea typeface="Canva Sans Bold"/>
                <a:cs typeface="Canva Sans Bold"/>
                <a:sym typeface="Canva Sans Bold"/>
              </a:endParaRPr>
            </a:p>
          </p:txBody>
        </p:sp>
      </p:grpSp>
      <p:sp>
        <p:nvSpPr>
          <p:cNvPr id="47" name="TextBox 46">
            <a:extLst>
              <a:ext uri="{FF2B5EF4-FFF2-40B4-BE49-F238E27FC236}">
                <a16:creationId xmlns:a16="http://schemas.microsoft.com/office/drawing/2014/main" id="{1CCCA929-ED3D-7CA2-007B-31FBCB39F051}"/>
              </a:ext>
            </a:extLst>
          </p:cNvPr>
          <p:cNvSpPr txBox="1"/>
          <p:nvPr/>
        </p:nvSpPr>
        <p:spPr>
          <a:xfrm>
            <a:off x="3318737" y="2075384"/>
            <a:ext cx="1803952" cy="646331"/>
          </a:xfrm>
          <a:prstGeom prst="rect">
            <a:avLst/>
          </a:prstGeom>
          <a:noFill/>
        </p:spPr>
        <p:txBody>
          <a:bodyPr wrap="square" rtlCol="0">
            <a:spAutoFit/>
          </a:bodyPr>
          <a:lstStyle/>
          <a:p>
            <a:r>
              <a:rPr lang="en-US" sz="3600" b="1" dirty="0"/>
              <a:t>Before</a:t>
            </a:r>
          </a:p>
        </p:txBody>
      </p:sp>
      <p:sp>
        <p:nvSpPr>
          <p:cNvPr id="48" name="TextBox 47">
            <a:extLst>
              <a:ext uri="{FF2B5EF4-FFF2-40B4-BE49-F238E27FC236}">
                <a16:creationId xmlns:a16="http://schemas.microsoft.com/office/drawing/2014/main" id="{DAFD00F2-86B4-EF94-D7CF-31479A22FCFE}"/>
              </a:ext>
            </a:extLst>
          </p:cNvPr>
          <p:cNvSpPr txBox="1"/>
          <p:nvPr/>
        </p:nvSpPr>
        <p:spPr>
          <a:xfrm>
            <a:off x="13469472" y="2075384"/>
            <a:ext cx="1803952" cy="646331"/>
          </a:xfrm>
          <a:prstGeom prst="rect">
            <a:avLst/>
          </a:prstGeom>
          <a:noFill/>
        </p:spPr>
        <p:txBody>
          <a:bodyPr wrap="square" rtlCol="0">
            <a:spAutoFit/>
          </a:bodyPr>
          <a:lstStyle/>
          <a:p>
            <a:r>
              <a:rPr lang="en-US" sz="3600" b="1" dirty="0"/>
              <a:t>After</a:t>
            </a:r>
          </a:p>
        </p:txBody>
      </p:sp>
      <p:cxnSp>
        <p:nvCxnSpPr>
          <p:cNvPr id="50" name="Straight Connector 49">
            <a:extLst>
              <a:ext uri="{FF2B5EF4-FFF2-40B4-BE49-F238E27FC236}">
                <a16:creationId xmlns:a16="http://schemas.microsoft.com/office/drawing/2014/main" id="{24275FE7-E4B0-3AD7-74A0-4D5D44A71559}"/>
              </a:ext>
            </a:extLst>
          </p:cNvPr>
          <p:cNvCxnSpPr>
            <a:cxnSpLocks/>
          </p:cNvCxnSpPr>
          <p:nvPr/>
        </p:nvCxnSpPr>
        <p:spPr>
          <a:xfrm>
            <a:off x="8915400" y="1788759"/>
            <a:ext cx="0" cy="7154413"/>
          </a:xfrm>
          <a:prstGeom prst="line">
            <a:avLst/>
          </a:prstGeom>
          <a:ln w="508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794F1CDD-B12A-6220-C2CC-766CBAA0ACB2}"/>
              </a:ext>
            </a:extLst>
          </p:cNvPr>
          <p:cNvPicPr>
            <a:picLocks noChangeAspect="1"/>
          </p:cNvPicPr>
          <p:nvPr/>
        </p:nvPicPr>
        <p:blipFill>
          <a:blip r:embed="rId6"/>
          <a:stretch>
            <a:fillRect/>
          </a:stretch>
        </p:blipFill>
        <p:spPr>
          <a:xfrm>
            <a:off x="9144000" y="3107491"/>
            <a:ext cx="8850130" cy="5000739"/>
          </a:xfrm>
          <a:prstGeom prst="rect">
            <a:avLst/>
          </a:prstGeom>
        </p:spPr>
      </p:pic>
      <p:pic>
        <p:nvPicPr>
          <p:cNvPr id="14" name="Picture 13">
            <a:extLst>
              <a:ext uri="{FF2B5EF4-FFF2-40B4-BE49-F238E27FC236}">
                <a16:creationId xmlns:a16="http://schemas.microsoft.com/office/drawing/2014/main" id="{0A270A1A-BF39-33CB-EDD9-8886123E9ABB}"/>
              </a:ext>
            </a:extLst>
          </p:cNvPr>
          <p:cNvPicPr>
            <a:picLocks noChangeAspect="1"/>
          </p:cNvPicPr>
          <p:nvPr/>
        </p:nvPicPr>
        <p:blipFill>
          <a:blip r:embed="rId7"/>
          <a:stretch>
            <a:fillRect/>
          </a:stretch>
        </p:blipFill>
        <p:spPr>
          <a:xfrm>
            <a:off x="162949" y="3120191"/>
            <a:ext cx="8445016" cy="5027449"/>
          </a:xfrm>
          <a:prstGeom prst="rect">
            <a:avLst/>
          </a:prstGeom>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p:cNvGrpSpPr/>
          <p:nvPr/>
        </p:nvGrpSpPr>
        <p:grpSpPr>
          <a:xfrm>
            <a:off x="6395334" y="495320"/>
            <a:ext cx="5651224" cy="1143137"/>
            <a:chOff x="0" y="0"/>
            <a:chExt cx="7163192" cy="1331744"/>
          </a:xfrm>
        </p:grpSpPr>
        <p:grpSp>
          <p:nvGrpSpPr>
            <p:cNvPr id="7" name="Group 7"/>
            <p:cNvGrpSpPr/>
            <p:nvPr/>
          </p:nvGrpSpPr>
          <p:grpSpPr>
            <a:xfrm>
              <a:off x="0" y="0"/>
              <a:ext cx="7163192" cy="1331744"/>
              <a:chOff x="0" y="0"/>
              <a:chExt cx="1830071" cy="340238"/>
            </a:xfrm>
          </p:grpSpPr>
          <p:sp>
            <p:nvSpPr>
              <p:cNvPr id="8" name="Freeform 8"/>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9" name="TextBox 9"/>
              <p:cNvSpPr txBox="1"/>
              <p:nvPr/>
            </p:nvSpPr>
            <p:spPr>
              <a:xfrm>
                <a:off x="0" y="-38100"/>
                <a:ext cx="1830071" cy="378338"/>
              </a:xfrm>
              <a:prstGeom prst="rect">
                <a:avLst/>
              </a:prstGeom>
            </p:spPr>
            <p:txBody>
              <a:bodyPr lIns="50800" tIns="50800" rIns="50800" bIns="50800" rtlCol="0" anchor="ctr"/>
              <a:lstStyle/>
              <a:p>
                <a:pPr algn="ctr">
                  <a:lnSpc>
                    <a:spcPts val="2880"/>
                  </a:lnSpc>
                </a:pPr>
                <a:endParaRPr/>
              </a:p>
            </p:txBody>
          </p:sp>
        </p:grpSp>
        <p:sp>
          <p:nvSpPr>
            <p:cNvPr id="10" name="TextBox 10"/>
            <p:cNvSpPr txBox="1"/>
            <p:nvPr/>
          </p:nvSpPr>
          <p:spPr>
            <a:xfrm>
              <a:off x="609817" y="146712"/>
              <a:ext cx="6078819" cy="1038319"/>
            </a:xfrm>
            <a:prstGeom prst="rect">
              <a:avLst/>
            </a:prstGeom>
          </p:spPr>
          <p:txBody>
            <a:bodyPr wrap="square"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Data Modeling</a:t>
              </a:r>
            </a:p>
          </p:txBody>
        </p:sp>
      </p:grpSp>
      <p:pic>
        <p:nvPicPr>
          <p:cNvPr id="26" name="Picture 25">
            <a:extLst>
              <a:ext uri="{FF2B5EF4-FFF2-40B4-BE49-F238E27FC236}">
                <a16:creationId xmlns:a16="http://schemas.microsoft.com/office/drawing/2014/main" id="{57F28D34-A4BE-64C8-3E9B-D9D16822FBB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pic>
        <p:nvPicPr>
          <p:cNvPr id="15" name="Picture 14">
            <a:extLst>
              <a:ext uri="{FF2B5EF4-FFF2-40B4-BE49-F238E27FC236}">
                <a16:creationId xmlns:a16="http://schemas.microsoft.com/office/drawing/2014/main" id="{26E5A644-C77C-A9DD-8BD9-FEBDF424791F}"/>
              </a:ext>
            </a:extLst>
          </p:cNvPr>
          <p:cNvPicPr>
            <a:picLocks noChangeAspect="1"/>
          </p:cNvPicPr>
          <p:nvPr/>
        </p:nvPicPr>
        <p:blipFill>
          <a:blip r:embed="rId7"/>
          <a:stretch>
            <a:fillRect/>
          </a:stretch>
        </p:blipFill>
        <p:spPr>
          <a:xfrm>
            <a:off x="2057400" y="2005768"/>
            <a:ext cx="14706599" cy="6629279"/>
          </a:xfrm>
          <a:prstGeom prst="rect">
            <a:avLst/>
          </a:prstGeom>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7" name="Group 7"/>
          <p:cNvGrpSpPr/>
          <p:nvPr/>
        </p:nvGrpSpPr>
        <p:grpSpPr>
          <a:xfrm>
            <a:off x="5483168" y="5386306"/>
            <a:ext cx="7570488" cy="1062155"/>
            <a:chOff x="0" y="0"/>
            <a:chExt cx="2578838" cy="361816"/>
          </a:xfrm>
        </p:grpSpPr>
        <p:sp>
          <p:nvSpPr>
            <p:cNvPr id="8" name="Freeform 8"/>
            <p:cNvSpPr/>
            <p:nvPr/>
          </p:nvSpPr>
          <p:spPr>
            <a:xfrm>
              <a:off x="0" y="0"/>
              <a:ext cx="2578838" cy="361816"/>
            </a:xfrm>
            <a:custGeom>
              <a:avLst/>
              <a:gdLst/>
              <a:ahLst/>
              <a:cxnLst/>
              <a:rect l="l" t="t" r="r" b="b"/>
              <a:pathLst>
                <a:path w="2578838" h="361816">
                  <a:moveTo>
                    <a:pt x="52155" y="0"/>
                  </a:moveTo>
                  <a:lnTo>
                    <a:pt x="2526683" y="0"/>
                  </a:lnTo>
                  <a:cubicBezTo>
                    <a:pt x="2555487" y="0"/>
                    <a:pt x="2578838" y="23351"/>
                    <a:pt x="2578838" y="52155"/>
                  </a:cubicBezTo>
                  <a:lnTo>
                    <a:pt x="2578838" y="309661"/>
                  </a:lnTo>
                  <a:cubicBezTo>
                    <a:pt x="2578838" y="338466"/>
                    <a:pt x="2555487" y="361816"/>
                    <a:pt x="2526683" y="361816"/>
                  </a:cubicBezTo>
                  <a:lnTo>
                    <a:pt x="52155" y="361816"/>
                  </a:lnTo>
                  <a:cubicBezTo>
                    <a:pt x="38323" y="361816"/>
                    <a:pt x="25057" y="356321"/>
                    <a:pt x="15276" y="346540"/>
                  </a:cubicBezTo>
                  <a:cubicBezTo>
                    <a:pt x="5495" y="336759"/>
                    <a:pt x="0" y="323494"/>
                    <a:pt x="0" y="309661"/>
                  </a:cubicBezTo>
                  <a:lnTo>
                    <a:pt x="0" y="52155"/>
                  </a:lnTo>
                  <a:cubicBezTo>
                    <a:pt x="0" y="23351"/>
                    <a:pt x="23351" y="0"/>
                    <a:pt x="52155" y="0"/>
                  </a:cubicBezTo>
                  <a:close/>
                </a:path>
              </a:pathLst>
            </a:custGeom>
            <a:solidFill>
              <a:srgbClr val="84E4A8"/>
            </a:solidFill>
          </p:spPr>
          <p:txBody>
            <a:bodyPr/>
            <a:lstStyle/>
            <a:p>
              <a:endParaRPr lang="en-US"/>
            </a:p>
          </p:txBody>
        </p:sp>
        <p:sp>
          <p:nvSpPr>
            <p:cNvPr id="9" name="TextBox 9"/>
            <p:cNvSpPr txBox="1"/>
            <p:nvPr/>
          </p:nvSpPr>
          <p:spPr>
            <a:xfrm>
              <a:off x="0" y="-38100"/>
              <a:ext cx="2578838" cy="399916"/>
            </a:xfrm>
            <a:prstGeom prst="rect">
              <a:avLst/>
            </a:prstGeom>
          </p:spPr>
          <p:txBody>
            <a:bodyPr lIns="39277" tIns="39277" rIns="39277" bIns="39277" rtlCol="0" anchor="ctr"/>
            <a:lstStyle/>
            <a:p>
              <a:pPr algn="ctr">
                <a:lnSpc>
                  <a:spcPts val="2879"/>
                </a:lnSpc>
              </a:pPr>
              <a:endParaRPr/>
            </a:p>
          </p:txBody>
        </p:sp>
      </p:grpSp>
      <p:sp>
        <p:nvSpPr>
          <p:cNvPr id="10" name="TextBox 10"/>
          <p:cNvSpPr txBox="1"/>
          <p:nvPr/>
        </p:nvSpPr>
        <p:spPr>
          <a:xfrm>
            <a:off x="5579688" y="5489253"/>
            <a:ext cx="7377446" cy="770535"/>
          </a:xfrm>
          <a:prstGeom prst="rect">
            <a:avLst/>
          </a:prstGeom>
        </p:spPr>
        <p:txBody>
          <a:bodyPr lIns="0" tIns="0" rIns="0" bIns="0" rtlCol="0" anchor="t">
            <a:spAutoFit/>
          </a:bodyPr>
          <a:lstStyle/>
          <a:p>
            <a:pPr algn="ctr">
              <a:lnSpc>
                <a:spcPts val="6354"/>
              </a:lnSpc>
            </a:pPr>
            <a:r>
              <a:rPr lang="en-US" sz="4538" b="1">
                <a:solidFill>
                  <a:srgbClr val="336EA8"/>
                </a:solidFill>
                <a:latin typeface="Canva Sans Bold"/>
                <a:ea typeface="Canva Sans Bold"/>
                <a:cs typeface="Canva Sans Bold"/>
                <a:sym typeface="Canva Sans Bold"/>
              </a:rPr>
              <a:t>Thanks for your time :)</a:t>
            </a:r>
          </a:p>
        </p:txBody>
      </p:sp>
      <p:pic>
        <p:nvPicPr>
          <p:cNvPr id="12" name="Picture 11">
            <a:extLst>
              <a:ext uri="{FF2B5EF4-FFF2-40B4-BE49-F238E27FC236}">
                <a16:creationId xmlns:a16="http://schemas.microsoft.com/office/drawing/2014/main" id="{CD9CB9D7-E37F-B36E-B0E1-D280236E3446}"/>
              </a:ext>
            </a:extLst>
          </p:cNvPr>
          <p:cNvPicPr>
            <a:picLocks noChangeAspect="1"/>
          </p:cNvPicPr>
          <p:nvPr/>
        </p:nvPicPr>
        <p:blipFill>
          <a:blip r:embed="rId6"/>
          <a:stretch>
            <a:fillRect/>
          </a:stretch>
        </p:blipFill>
        <p:spPr>
          <a:xfrm>
            <a:off x="4495800" y="3490230"/>
            <a:ext cx="9867900" cy="1943100"/>
          </a:xfrm>
          <a:prstGeom prst="rect">
            <a:avLst/>
          </a:prstGeom>
        </p:spPr>
      </p:pic>
      <p:pic>
        <p:nvPicPr>
          <p:cNvPr id="6" name="Picture 5">
            <a:extLst>
              <a:ext uri="{FF2B5EF4-FFF2-40B4-BE49-F238E27FC236}">
                <a16:creationId xmlns:a16="http://schemas.microsoft.com/office/drawing/2014/main" id="{04454ABF-3C69-1CC5-3C8D-F7D6BEB3CD1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0" y="-1945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p:cNvGrpSpPr/>
          <p:nvPr/>
        </p:nvGrpSpPr>
        <p:grpSpPr>
          <a:xfrm>
            <a:off x="579906" y="1689812"/>
            <a:ext cx="17022707" cy="7568488"/>
            <a:chOff x="0" y="0"/>
            <a:chExt cx="5798675" cy="2578157"/>
          </a:xfrm>
        </p:grpSpPr>
        <p:sp>
          <p:nvSpPr>
            <p:cNvPr id="7" name="Freeform 7"/>
            <p:cNvSpPr/>
            <p:nvPr/>
          </p:nvSpPr>
          <p:spPr>
            <a:xfrm>
              <a:off x="0" y="0"/>
              <a:ext cx="5798676" cy="2578157"/>
            </a:xfrm>
            <a:custGeom>
              <a:avLst/>
              <a:gdLst/>
              <a:ahLst/>
              <a:cxnLst/>
              <a:rect l="l" t="t" r="r" b="b"/>
              <a:pathLst>
                <a:path w="5798676" h="2578157">
                  <a:moveTo>
                    <a:pt x="23195" y="0"/>
                  </a:moveTo>
                  <a:lnTo>
                    <a:pt x="5775481" y="0"/>
                  </a:lnTo>
                  <a:cubicBezTo>
                    <a:pt x="5781632" y="0"/>
                    <a:pt x="5787532" y="2444"/>
                    <a:pt x="5791882" y="6794"/>
                  </a:cubicBezTo>
                  <a:cubicBezTo>
                    <a:pt x="5796232" y="11143"/>
                    <a:pt x="5798676" y="17043"/>
                    <a:pt x="5798676" y="23195"/>
                  </a:cubicBezTo>
                  <a:lnTo>
                    <a:pt x="5798676" y="2554962"/>
                  </a:lnTo>
                  <a:cubicBezTo>
                    <a:pt x="5798676" y="2561113"/>
                    <a:pt x="5796232" y="2567013"/>
                    <a:pt x="5791882" y="2571363"/>
                  </a:cubicBezTo>
                  <a:cubicBezTo>
                    <a:pt x="5787532" y="2575713"/>
                    <a:pt x="5781632" y="2578157"/>
                    <a:pt x="5775481" y="2578157"/>
                  </a:cubicBezTo>
                  <a:lnTo>
                    <a:pt x="23195" y="2578157"/>
                  </a:lnTo>
                  <a:cubicBezTo>
                    <a:pt x="17043" y="2578157"/>
                    <a:pt x="11143" y="2575713"/>
                    <a:pt x="6794" y="2571363"/>
                  </a:cubicBezTo>
                  <a:cubicBezTo>
                    <a:pt x="2444" y="2567013"/>
                    <a:pt x="0" y="2561113"/>
                    <a:pt x="0" y="2554962"/>
                  </a:cubicBezTo>
                  <a:lnTo>
                    <a:pt x="0" y="23195"/>
                  </a:lnTo>
                  <a:cubicBezTo>
                    <a:pt x="0" y="17043"/>
                    <a:pt x="2444" y="11143"/>
                    <a:pt x="6794" y="6794"/>
                  </a:cubicBezTo>
                  <a:cubicBezTo>
                    <a:pt x="11143" y="2444"/>
                    <a:pt x="17043" y="0"/>
                    <a:pt x="23195" y="0"/>
                  </a:cubicBezTo>
                  <a:close/>
                </a:path>
              </a:pathLst>
            </a:custGeom>
            <a:solidFill>
              <a:srgbClr val="84E4A8"/>
            </a:solidFill>
          </p:spPr>
          <p:txBody>
            <a:bodyPr/>
            <a:lstStyle/>
            <a:p>
              <a:endParaRPr lang="en-US"/>
            </a:p>
          </p:txBody>
        </p:sp>
        <p:sp>
          <p:nvSpPr>
            <p:cNvPr id="8" name="TextBox 8"/>
            <p:cNvSpPr txBox="1"/>
            <p:nvPr/>
          </p:nvSpPr>
          <p:spPr>
            <a:xfrm>
              <a:off x="0" y="-38100"/>
              <a:ext cx="5798675" cy="2616257"/>
            </a:xfrm>
            <a:prstGeom prst="rect">
              <a:avLst/>
            </a:prstGeom>
          </p:spPr>
          <p:txBody>
            <a:bodyPr lIns="39277" tIns="39277" rIns="39277" bIns="39277" rtlCol="0" anchor="ctr"/>
            <a:lstStyle/>
            <a:p>
              <a:pPr algn="ctr">
                <a:lnSpc>
                  <a:spcPts val="2879"/>
                </a:lnSpc>
              </a:pPr>
              <a:endParaRPr/>
            </a:p>
          </p:txBody>
        </p:sp>
      </p:grpSp>
      <p:grpSp>
        <p:nvGrpSpPr>
          <p:cNvPr id="9" name="Group 9"/>
          <p:cNvGrpSpPr/>
          <p:nvPr/>
        </p:nvGrpSpPr>
        <p:grpSpPr>
          <a:xfrm>
            <a:off x="1028700" y="2079956"/>
            <a:ext cx="2580660" cy="6892743"/>
            <a:chOff x="0" y="0"/>
            <a:chExt cx="679680" cy="1815373"/>
          </a:xfrm>
        </p:grpSpPr>
        <p:sp>
          <p:nvSpPr>
            <p:cNvPr id="10" name="Freeform 10"/>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1" name="TextBox 11"/>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2" name="Group 12"/>
          <p:cNvGrpSpPr/>
          <p:nvPr/>
        </p:nvGrpSpPr>
        <p:grpSpPr>
          <a:xfrm>
            <a:off x="1048764" y="3873234"/>
            <a:ext cx="2540533" cy="2540533"/>
            <a:chOff x="0" y="0"/>
            <a:chExt cx="6350000" cy="6350000"/>
          </a:xfrm>
        </p:grpSpPr>
        <p:sp>
          <p:nvSpPr>
            <p:cNvPr id="13" name="Freeform 13"/>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t="-25000" b="-25000"/>
              </a:stretch>
            </a:blipFill>
          </p:spPr>
          <p:txBody>
            <a:bodyPr/>
            <a:lstStyle/>
            <a:p>
              <a:endParaRPr lang="en-US"/>
            </a:p>
          </p:txBody>
        </p:sp>
      </p:grpSp>
      <p:sp>
        <p:nvSpPr>
          <p:cNvPr id="14" name="TextBox 14"/>
          <p:cNvSpPr txBox="1"/>
          <p:nvPr/>
        </p:nvSpPr>
        <p:spPr>
          <a:xfrm>
            <a:off x="5402536" y="681423"/>
            <a:ext cx="7377446" cy="770535"/>
          </a:xfrm>
          <a:prstGeom prst="rect">
            <a:avLst/>
          </a:prstGeom>
        </p:spPr>
        <p:txBody>
          <a:bodyPr lIns="0" tIns="0" rIns="0" bIns="0" rtlCol="0" anchor="t">
            <a:spAutoFit/>
          </a:bodyPr>
          <a:lstStyle/>
          <a:p>
            <a:pPr algn="ctr">
              <a:lnSpc>
                <a:spcPts val="6354"/>
              </a:lnSpc>
            </a:pPr>
            <a:r>
              <a:rPr lang="en-US" sz="4538" b="1">
                <a:solidFill>
                  <a:srgbClr val="336EA8"/>
                </a:solidFill>
                <a:latin typeface="Canva Sans Bold"/>
                <a:ea typeface="Canva Sans Bold"/>
                <a:cs typeface="Canva Sans Bold"/>
                <a:sym typeface="Canva Sans Bold"/>
              </a:rPr>
              <a:t>Project Team + Roles</a:t>
            </a:r>
          </a:p>
        </p:txBody>
      </p:sp>
      <p:grpSp>
        <p:nvGrpSpPr>
          <p:cNvPr id="15" name="Group 15"/>
          <p:cNvGrpSpPr/>
          <p:nvPr/>
        </p:nvGrpSpPr>
        <p:grpSpPr>
          <a:xfrm>
            <a:off x="1048764" y="2027684"/>
            <a:ext cx="2580660" cy="6892743"/>
            <a:chOff x="0" y="0"/>
            <a:chExt cx="679680" cy="1815373"/>
          </a:xfrm>
        </p:grpSpPr>
        <p:sp>
          <p:nvSpPr>
            <p:cNvPr id="16" name="Freeform 16"/>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7" name="TextBox 17"/>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8" name="Group 18"/>
          <p:cNvGrpSpPr/>
          <p:nvPr/>
        </p:nvGrpSpPr>
        <p:grpSpPr>
          <a:xfrm>
            <a:off x="1027031" y="3873234"/>
            <a:ext cx="2540533" cy="2540533"/>
            <a:chOff x="0" y="0"/>
            <a:chExt cx="6350000" cy="6350000"/>
          </a:xfrm>
        </p:grpSpPr>
        <p:sp>
          <p:nvSpPr>
            <p:cNvPr id="19" name="Freeform 19"/>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7"/>
              <a:stretch>
                <a:fillRect t="-16747" b="-16747"/>
              </a:stretch>
            </a:blipFill>
          </p:spPr>
          <p:txBody>
            <a:bodyPr/>
            <a:lstStyle/>
            <a:p>
              <a:endParaRPr lang="en-US"/>
            </a:p>
          </p:txBody>
        </p:sp>
      </p:grpSp>
      <p:grpSp>
        <p:nvGrpSpPr>
          <p:cNvPr id="20" name="Group 20"/>
          <p:cNvGrpSpPr/>
          <p:nvPr/>
        </p:nvGrpSpPr>
        <p:grpSpPr>
          <a:xfrm>
            <a:off x="1084293" y="2027684"/>
            <a:ext cx="2580660" cy="6892743"/>
            <a:chOff x="0" y="0"/>
            <a:chExt cx="679680" cy="1815373"/>
          </a:xfrm>
        </p:grpSpPr>
        <p:sp>
          <p:nvSpPr>
            <p:cNvPr id="21" name="Freeform 21"/>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2" name="TextBox 22"/>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3" name="Group 23"/>
          <p:cNvGrpSpPr/>
          <p:nvPr/>
        </p:nvGrpSpPr>
        <p:grpSpPr>
          <a:xfrm>
            <a:off x="1124421" y="3873234"/>
            <a:ext cx="2540533" cy="2540533"/>
            <a:chOff x="0" y="0"/>
            <a:chExt cx="6350000" cy="6350000"/>
          </a:xfrm>
        </p:grpSpPr>
        <p:sp>
          <p:nvSpPr>
            <p:cNvPr id="24" name="Freeform 24"/>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8"/>
              <a:stretch>
                <a:fillRect t="-31120" b="-31120"/>
              </a:stretch>
            </a:blipFill>
          </p:spPr>
          <p:txBody>
            <a:bodyPr/>
            <a:lstStyle/>
            <a:p>
              <a:endParaRPr lang="en-US"/>
            </a:p>
          </p:txBody>
        </p:sp>
      </p:grpSp>
      <p:grpSp>
        <p:nvGrpSpPr>
          <p:cNvPr id="25" name="Group 25"/>
          <p:cNvGrpSpPr/>
          <p:nvPr/>
        </p:nvGrpSpPr>
        <p:grpSpPr>
          <a:xfrm>
            <a:off x="1048764" y="2079956"/>
            <a:ext cx="2580660" cy="6892743"/>
            <a:chOff x="0" y="0"/>
            <a:chExt cx="679680" cy="1815373"/>
          </a:xfrm>
        </p:grpSpPr>
        <p:sp>
          <p:nvSpPr>
            <p:cNvPr id="26" name="Freeform 26"/>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7" name="TextBox 27"/>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8" name="Group 28"/>
          <p:cNvGrpSpPr/>
          <p:nvPr/>
        </p:nvGrpSpPr>
        <p:grpSpPr>
          <a:xfrm>
            <a:off x="1084293" y="3873234"/>
            <a:ext cx="2540533" cy="2540533"/>
            <a:chOff x="0" y="0"/>
            <a:chExt cx="6350000" cy="6350000"/>
          </a:xfrm>
        </p:grpSpPr>
        <p:sp>
          <p:nvSpPr>
            <p:cNvPr id="29" name="Freeform 29"/>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9"/>
              <a:stretch>
                <a:fillRect t="-16666" b="-16666"/>
              </a:stretch>
            </a:blipFill>
          </p:spPr>
          <p:txBody>
            <a:bodyPr/>
            <a:lstStyle/>
            <a:p>
              <a:endParaRPr lang="en-US"/>
            </a:p>
          </p:txBody>
        </p:sp>
      </p:grpSp>
      <p:grpSp>
        <p:nvGrpSpPr>
          <p:cNvPr id="30" name="Group 30"/>
          <p:cNvGrpSpPr/>
          <p:nvPr/>
        </p:nvGrpSpPr>
        <p:grpSpPr>
          <a:xfrm>
            <a:off x="1060480" y="2079956"/>
            <a:ext cx="2588158" cy="6892743"/>
            <a:chOff x="0" y="0"/>
            <a:chExt cx="3450877" cy="9190325"/>
          </a:xfrm>
        </p:grpSpPr>
        <p:grpSp>
          <p:nvGrpSpPr>
            <p:cNvPr id="31" name="Group 31"/>
            <p:cNvGrpSpPr/>
            <p:nvPr/>
          </p:nvGrpSpPr>
          <p:grpSpPr>
            <a:xfrm>
              <a:off x="0" y="0"/>
              <a:ext cx="3440880" cy="9190325"/>
              <a:chOff x="0" y="0"/>
              <a:chExt cx="679680" cy="1815373"/>
            </a:xfrm>
          </p:grpSpPr>
          <p:sp>
            <p:nvSpPr>
              <p:cNvPr id="32" name="Freeform 32"/>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33" name="TextBox 33"/>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34" name="Group 34"/>
            <p:cNvGrpSpPr/>
            <p:nvPr/>
          </p:nvGrpSpPr>
          <p:grpSpPr>
            <a:xfrm>
              <a:off x="63500" y="2391038"/>
              <a:ext cx="3387377" cy="3387377"/>
              <a:chOff x="0" y="0"/>
              <a:chExt cx="6350000" cy="6350000"/>
            </a:xfrm>
          </p:grpSpPr>
          <p:sp>
            <p:nvSpPr>
              <p:cNvPr id="35" name="Freeform 35"/>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10"/>
                <a:stretch>
                  <a:fillRect l="-38888" r="-38888"/>
                </a:stretch>
              </a:blipFill>
            </p:spPr>
            <p:txBody>
              <a:bodyPr/>
              <a:lstStyle/>
              <a:p>
                <a:endParaRPr lang="en-US"/>
              </a:p>
            </p:txBody>
          </p:sp>
        </p:grpSp>
      </p:grpSp>
      <p:grpSp>
        <p:nvGrpSpPr>
          <p:cNvPr id="36" name="Group 36"/>
          <p:cNvGrpSpPr/>
          <p:nvPr/>
        </p:nvGrpSpPr>
        <p:grpSpPr>
          <a:xfrm>
            <a:off x="986904" y="2027684"/>
            <a:ext cx="16272396" cy="6945015"/>
            <a:chOff x="0" y="0"/>
            <a:chExt cx="4285734" cy="1829140"/>
          </a:xfrm>
        </p:grpSpPr>
        <p:sp>
          <p:nvSpPr>
            <p:cNvPr id="37" name="Freeform 37"/>
            <p:cNvSpPr/>
            <p:nvPr/>
          </p:nvSpPr>
          <p:spPr>
            <a:xfrm>
              <a:off x="0" y="0"/>
              <a:ext cx="4285734" cy="1829140"/>
            </a:xfrm>
            <a:custGeom>
              <a:avLst/>
              <a:gdLst/>
              <a:ahLst/>
              <a:cxnLst/>
              <a:rect l="l" t="t" r="r" b="b"/>
              <a:pathLst>
                <a:path w="4285734" h="1829140">
                  <a:moveTo>
                    <a:pt x="24264" y="0"/>
                  </a:moveTo>
                  <a:lnTo>
                    <a:pt x="4261470" y="0"/>
                  </a:lnTo>
                  <a:cubicBezTo>
                    <a:pt x="4274871" y="0"/>
                    <a:pt x="4285734" y="10863"/>
                    <a:pt x="4285734" y="24264"/>
                  </a:cubicBezTo>
                  <a:lnTo>
                    <a:pt x="4285734" y="1804875"/>
                  </a:lnTo>
                  <a:cubicBezTo>
                    <a:pt x="4285734" y="1811311"/>
                    <a:pt x="4283178" y="1817482"/>
                    <a:pt x="4278627" y="1822033"/>
                  </a:cubicBezTo>
                  <a:cubicBezTo>
                    <a:pt x="4274077" y="1826583"/>
                    <a:pt x="4267905" y="1829140"/>
                    <a:pt x="4261470" y="1829140"/>
                  </a:cubicBezTo>
                  <a:lnTo>
                    <a:pt x="24264" y="1829140"/>
                  </a:lnTo>
                  <a:cubicBezTo>
                    <a:pt x="10863" y="1829140"/>
                    <a:pt x="0" y="1818276"/>
                    <a:pt x="0" y="1804875"/>
                  </a:cubicBezTo>
                  <a:lnTo>
                    <a:pt x="0" y="24264"/>
                  </a:lnTo>
                  <a:cubicBezTo>
                    <a:pt x="0" y="17829"/>
                    <a:pt x="2556" y="11657"/>
                    <a:pt x="7107" y="7107"/>
                  </a:cubicBezTo>
                  <a:cubicBezTo>
                    <a:pt x="11657" y="2556"/>
                    <a:pt x="17829" y="0"/>
                    <a:pt x="24264" y="0"/>
                  </a:cubicBezTo>
                  <a:close/>
                </a:path>
              </a:pathLst>
            </a:custGeom>
            <a:solidFill>
              <a:srgbClr val="336EA8"/>
            </a:solidFill>
          </p:spPr>
          <p:txBody>
            <a:bodyPr/>
            <a:lstStyle/>
            <a:p>
              <a:endParaRPr lang="en-US"/>
            </a:p>
          </p:txBody>
        </p:sp>
        <p:sp>
          <p:nvSpPr>
            <p:cNvPr id="38" name="TextBox 38"/>
            <p:cNvSpPr txBox="1"/>
            <p:nvPr/>
          </p:nvSpPr>
          <p:spPr>
            <a:xfrm>
              <a:off x="0" y="-38100"/>
              <a:ext cx="4285734" cy="1867240"/>
            </a:xfrm>
            <a:prstGeom prst="rect">
              <a:avLst/>
            </a:prstGeom>
          </p:spPr>
          <p:txBody>
            <a:bodyPr lIns="50800" tIns="50800" rIns="50800" bIns="50800" rtlCol="0" anchor="ctr"/>
            <a:lstStyle/>
            <a:p>
              <a:pPr algn="ctr">
                <a:lnSpc>
                  <a:spcPts val="2879"/>
                </a:lnSpc>
              </a:pPr>
              <a:endParaRPr/>
            </a:p>
          </p:txBody>
        </p:sp>
      </p:grpSp>
      <p:sp>
        <p:nvSpPr>
          <p:cNvPr id="41" name="TextBox 41"/>
          <p:cNvSpPr txBox="1"/>
          <p:nvPr/>
        </p:nvSpPr>
        <p:spPr>
          <a:xfrm>
            <a:off x="4272352" y="3333404"/>
            <a:ext cx="12758348" cy="5321566"/>
          </a:xfrm>
          <a:prstGeom prst="rect">
            <a:avLst/>
          </a:prstGeom>
        </p:spPr>
        <p:txBody>
          <a:bodyPr lIns="0" tIns="0" rIns="0" bIns="0" rtlCol="0" anchor="t">
            <a:spAutoFit/>
          </a:bodyPr>
          <a:lstStyle/>
          <a:p>
            <a:pPr algn="ctr">
              <a:lnSpc>
                <a:spcPts val="3835"/>
              </a:lnSpc>
            </a:pPr>
            <a:r>
              <a:rPr lang="en-US" sz="2739" b="1" dirty="0">
                <a:solidFill>
                  <a:srgbClr val="000000"/>
                </a:solidFill>
                <a:latin typeface="Canva Sans Bold"/>
                <a:ea typeface="Canva Sans Bold"/>
                <a:cs typeface="Canva Sans Bold"/>
                <a:sym typeface="Canva Sans Bold"/>
              </a:rPr>
              <a:t>Introduction</a:t>
            </a:r>
          </a:p>
          <a:p>
            <a:pPr algn="l">
              <a:lnSpc>
                <a:spcPts val="3835"/>
              </a:lnSpc>
            </a:pPr>
            <a:r>
              <a:rPr lang="en-US" sz="2739" b="1" dirty="0">
                <a:solidFill>
                  <a:srgbClr val="000000"/>
                </a:solidFill>
                <a:latin typeface="Canva Sans Bold"/>
                <a:ea typeface="Canva Sans Bold"/>
                <a:cs typeface="Canva Sans Bold"/>
                <a:sym typeface="Canva Sans Bold"/>
              </a:rPr>
              <a:t>I’m Mohamed Emad, a </a:t>
            </a:r>
            <a:r>
              <a:rPr lang="ar-EG" sz="2739" b="1" dirty="0">
                <a:solidFill>
                  <a:srgbClr val="000000"/>
                </a:solidFill>
                <a:latin typeface="Canva Sans Bold"/>
                <a:ea typeface="Canva Sans Bold"/>
                <a:cs typeface="Canva Sans Bold"/>
                <a:sym typeface="Canva Sans Bold"/>
              </a:rPr>
              <a:t>20</a:t>
            </a:r>
            <a:r>
              <a:rPr lang="en-US" sz="2739" b="1" dirty="0">
                <a:solidFill>
                  <a:srgbClr val="000000"/>
                </a:solidFill>
                <a:latin typeface="Canva Sans Bold"/>
                <a:ea typeface="Canva Sans Bold"/>
                <a:cs typeface="Canva Sans Bold"/>
                <a:sym typeface="Canva Sans Bold"/>
              </a:rPr>
              <a:t>-year-old student at Al-Azhar University’s Faculty of Agriculture. Passionate about analytical thinking and leveraging technology to solve complex problems. Currently exploring innovative ways to bridge data-driven insights with real-world applications in the agricultural field.</a:t>
            </a:r>
          </a:p>
          <a:p>
            <a:pPr algn="ctr">
              <a:lnSpc>
                <a:spcPts val="3835"/>
              </a:lnSpc>
            </a:pPr>
            <a:r>
              <a:rPr lang="en-US" sz="2800" b="1" dirty="0">
                <a:solidFill>
                  <a:srgbClr val="000000"/>
                </a:solidFill>
                <a:latin typeface="Canva Sans Bold"/>
                <a:ea typeface="Canva Sans Bold"/>
                <a:cs typeface="Canva Sans Bold"/>
                <a:sym typeface="Canva Sans Bold"/>
              </a:rPr>
              <a:t>Team Leader</a:t>
            </a:r>
            <a:endParaRPr lang="en-US" sz="2739" b="1" dirty="0">
              <a:solidFill>
                <a:srgbClr val="000000"/>
              </a:solidFill>
              <a:latin typeface="Canva Sans Bold"/>
              <a:ea typeface="Canva Sans Bold"/>
              <a:cs typeface="Canva Sans Bold"/>
              <a:sym typeface="Canva Sans Bold"/>
            </a:endParaRPr>
          </a:p>
          <a:p>
            <a:pPr algn="ctr">
              <a:lnSpc>
                <a:spcPts val="3835"/>
              </a:lnSpc>
            </a:pPr>
            <a:r>
              <a:rPr lang="en-US" sz="2739" b="1" dirty="0">
                <a:solidFill>
                  <a:srgbClr val="000000"/>
                </a:solidFill>
                <a:latin typeface="Canva Sans Bold"/>
                <a:ea typeface="Canva Sans Bold"/>
                <a:cs typeface="Canva Sans Bold"/>
                <a:sym typeface="Canva Sans Bold"/>
              </a:rPr>
              <a:t>Data Insights Specialist</a:t>
            </a:r>
          </a:p>
          <a:p>
            <a:pPr algn="l">
              <a:lnSpc>
                <a:spcPts val="3835"/>
              </a:lnSpc>
            </a:pPr>
            <a:r>
              <a:rPr lang="en-US" sz="2739" b="1" dirty="0">
                <a:solidFill>
                  <a:srgbClr val="000000"/>
                </a:solidFill>
                <a:latin typeface="Canva Sans Bold"/>
                <a:ea typeface="Canva Sans Bold"/>
                <a:cs typeface="Canva Sans Bold"/>
                <a:sym typeface="Canva Sans Bold"/>
              </a:rPr>
              <a:t> – Data analysis and insights generation </a:t>
            </a:r>
          </a:p>
          <a:p>
            <a:pPr algn="l">
              <a:lnSpc>
                <a:spcPts val="3835"/>
              </a:lnSpc>
            </a:pPr>
            <a:r>
              <a:rPr lang="en-US" sz="2739" b="1" dirty="0">
                <a:solidFill>
                  <a:srgbClr val="000000"/>
                </a:solidFill>
                <a:latin typeface="Canva Sans Bold"/>
                <a:ea typeface="Canva Sans Bold"/>
                <a:cs typeface="Canva Sans Bold"/>
                <a:sym typeface="Canva Sans Bold"/>
              </a:rPr>
              <a:t> – Supporting the team in extracting and refining final insights </a:t>
            </a:r>
          </a:p>
          <a:p>
            <a:pPr algn="l">
              <a:lnSpc>
                <a:spcPts val="3835"/>
              </a:lnSpc>
            </a:pPr>
            <a:r>
              <a:rPr lang="en-US" sz="2739" b="1" dirty="0">
                <a:solidFill>
                  <a:srgbClr val="000000"/>
                </a:solidFill>
                <a:latin typeface="Canva Sans Bold"/>
                <a:ea typeface="Canva Sans Bold"/>
                <a:cs typeface="Canva Sans Bold"/>
                <a:sym typeface="Canva Sans Bold"/>
              </a:rPr>
              <a:t> – Data analysis using Excel (Pivot Tables + Charts)</a:t>
            </a:r>
          </a:p>
        </p:txBody>
      </p:sp>
      <p:sp>
        <p:nvSpPr>
          <p:cNvPr id="42" name="TextBox 42"/>
          <p:cNvSpPr txBox="1"/>
          <p:nvPr/>
        </p:nvSpPr>
        <p:spPr>
          <a:xfrm>
            <a:off x="6117254" y="2266524"/>
            <a:ext cx="5084146" cy="828040"/>
          </a:xfrm>
          <a:prstGeom prst="rect">
            <a:avLst/>
          </a:prstGeom>
        </p:spPr>
        <p:txBody>
          <a:bodyPr wrap="square" lIns="0" tIns="0" rIns="0" bIns="0" rtlCol="0" anchor="t">
            <a:spAutoFit/>
          </a:bodyPr>
          <a:lstStyle/>
          <a:p>
            <a:pPr algn="ctr">
              <a:lnSpc>
                <a:spcPts val="6860"/>
              </a:lnSpc>
            </a:pPr>
            <a:r>
              <a:rPr lang="en-US" sz="4900" b="1" dirty="0">
                <a:solidFill>
                  <a:srgbClr val="000000"/>
                </a:solidFill>
                <a:latin typeface="Canva Sans Bold"/>
                <a:ea typeface="Canva Sans Bold"/>
                <a:cs typeface="Canva Sans Bold"/>
                <a:sym typeface="Canva Sans Bold"/>
              </a:rPr>
              <a:t>Mohamed Emad</a:t>
            </a:r>
          </a:p>
        </p:txBody>
      </p:sp>
      <p:pic>
        <p:nvPicPr>
          <p:cNvPr id="44" name="Picture 43">
            <a:extLst>
              <a:ext uri="{FF2B5EF4-FFF2-40B4-BE49-F238E27FC236}">
                <a16:creationId xmlns:a16="http://schemas.microsoft.com/office/drawing/2014/main" id="{F52142E4-EF98-10B2-B78A-8B9D435092E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8962442"/>
            <a:ext cx="1324558" cy="1324558"/>
          </a:xfrm>
          <a:prstGeom prst="rect">
            <a:avLst/>
          </a:prstGeom>
        </p:spPr>
      </p:pic>
      <p:pic>
        <p:nvPicPr>
          <p:cNvPr id="39" name="Picture 38">
            <a:extLst>
              <a:ext uri="{FF2B5EF4-FFF2-40B4-BE49-F238E27FC236}">
                <a16:creationId xmlns:a16="http://schemas.microsoft.com/office/drawing/2014/main" id="{D08E96A7-9501-616D-068B-F7168E3E44E5}"/>
              </a:ext>
            </a:extLst>
          </p:cNvPr>
          <p:cNvPicPr>
            <a:picLocks noChangeAspect="1"/>
          </p:cNvPicPr>
          <p:nvPr/>
        </p:nvPicPr>
        <p:blipFill rotWithShape="1">
          <a:blip r:embed="rId12">
            <a:extLst>
              <a:ext uri="{28A0092B-C50C-407E-A947-70E740481C1C}">
                <a14:useLocalDpi xmlns:a14="http://schemas.microsoft.com/office/drawing/2010/main" val="0"/>
              </a:ext>
            </a:extLst>
          </a:blip>
          <a:srcRect l="37814" t="6773" r="31810" b="70445"/>
          <a:stretch>
            <a:fillRect/>
          </a:stretch>
        </p:blipFill>
        <p:spPr>
          <a:xfrm>
            <a:off x="1190358" y="3740876"/>
            <a:ext cx="2826000" cy="2826000"/>
          </a:xfrm>
          <a:prstGeom prst="ellipse">
            <a:avLst/>
          </a:prstGeom>
        </p:spPr>
      </p:pic>
      <p:pic>
        <p:nvPicPr>
          <p:cNvPr id="40" name="Picture 39">
            <a:extLst>
              <a:ext uri="{FF2B5EF4-FFF2-40B4-BE49-F238E27FC236}">
                <a16:creationId xmlns:a16="http://schemas.microsoft.com/office/drawing/2014/main" id="{604D381B-9D3D-14DB-40E4-951BCACADFF3}"/>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4870702" y="6620976"/>
            <a:ext cx="2160000" cy="2160000"/>
          </a:xfrm>
          <a:prstGeom prst="rect">
            <a:avLst/>
          </a:prstGeom>
        </p:spPr>
      </p:pic>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4730FD6-7373-73A7-B567-71E88BB12CA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0F65A58-39D0-E73A-0415-7B3D7EDAC555}"/>
              </a:ext>
            </a:extLst>
          </p:cNvPr>
          <p:cNvSpPr/>
          <p:nvPr/>
        </p:nvSpPr>
        <p:spPr>
          <a:xfrm>
            <a:off x="0" y="-1945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a:extLst>
              <a:ext uri="{FF2B5EF4-FFF2-40B4-BE49-F238E27FC236}">
                <a16:creationId xmlns:a16="http://schemas.microsoft.com/office/drawing/2014/main" id="{D8B42F78-CC1D-0DFB-854F-FE614AC46C18}"/>
              </a:ext>
            </a:extLst>
          </p:cNvPr>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a:extLst>
              <a:ext uri="{FF2B5EF4-FFF2-40B4-BE49-F238E27FC236}">
                <a16:creationId xmlns:a16="http://schemas.microsoft.com/office/drawing/2014/main" id="{9F848876-310C-F3D4-A658-CC34C72112B8}"/>
              </a:ext>
            </a:extLst>
          </p:cNvPr>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a:extLst>
              <a:ext uri="{FF2B5EF4-FFF2-40B4-BE49-F238E27FC236}">
                <a16:creationId xmlns:a16="http://schemas.microsoft.com/office/drawing/2014/main" id="{1F1C86E5-0054-7388-6890-E84C81C1573C}"/>
              </a:ext>
            </a:extLst>
          </p:cNvPr>
          <p:cNvGrpSpPr/>
          <p:nvPr/>
        </p:nvGrpSpPr>
        <p:grpSpPr>
          <a:xfrm>
            <a:off x="579906" y="1689812"/>
            <a:ext cx="17022707" cy="7568488"/>
            <a:chOff x="0" y="0"/>
            <a:chExt cx="5798675" cy="2578157"/>
          </a:xfrm>
        </p:grpSpPr>
        <p:sp>
          <p:nvSpPr>
            <p:cNvPr id="7" name="Freeform 7">
              <a:extLst>
                <a:ext uri="{FF2B5EF4-FFF2-40B4-BE49-F238E27FC236}">
                  <a16:creationId xmlns:a16="http://schemas.microsoft.com/office/drawing/2014/main" id="{95F1BC4A-3886-C3F8-9C15-951DF3703771}"/>
                </a:ext>
              </a:extLst>
            </p:cNvPr>
            <p:cNvSpPr/>
            <p:nvPr/>
          </p:nvSpPr>
          <p:spPr>
            <a:xfrm>
              <a:off x="0" y="0"/>
              <a:ext cx="5798676" cy="2578157"/>
            </a:xfrm>
            <a:custGeom>
              <a:avLst/>
              <a:gdLst/>
              <a:ahLst/>
              <a:cxnLst/>
              <a:rect l="l" t="t" r="r" b="b"/>
              <a:pathLst>
                <a:path w="5798676" h="2578157">
                  <a:moveTo>
                    <a:pt x="23195" y="0"/>
                  </a:moveTo>
                  <a:lnTo>
                    <a:pt x="5775481" y="0"/>
                  </a:lnTo>
                  <a:cubicBezTo>
                    <a:pt x="5781632" y="0"/>
                    <a:pt x="5787532" y="2444"/>
                    <a:pt x="5791882" y="6794"/>
                  </a:cubicBezTo>
                  <a:cubicBezTo>
                    <a:pt x="5796232" y="11143"/>
                    <a:pt x="5798676" y="17043"/>
                    <a:pt x="5798676" y="23195"/>
                  </a:cubicBezTo>
                  <a:lnTo>
                    <a:pt x="5798676" y="2554962"/>
                  </a:lnTo>
                  <a:cubicBezTo>
                    <a:pt x="5798676" y="2561113"/>
                    <a:pt x="5796232" y="2567013"/>
                    <a:pt x="5791882" y="2571363"/>
                  </a:cubicBezTo>
                  <a:cubicBezTo>
                    <a:pt x="5787532" y="2575713"/>
                    <a:pt x="5781632" y="2578157"/>
                    <a:pt x="5775481" y="2578157"/>
                  </a:cubicBezTo>
                  <a:lnTo>
                    <a:pt x="23195" y="2578157"/>
                  </a:lnTo>
                  <a:cubicBezTo>
                    <a:pt x="17043" y="2578157"/>
                    <a:pt x="11143" y="2575713"/>
                    <a:pt x="6794" y="2571363"/>
                  </a:cubicBezTo>
                  <a:cubicBezTo>
                    <a:pt x="2444" y="2567013"/>
                    <a:pt x="0" y="2561113"/>
                    <a:pt x="0" y="2554962"/>
                  </a:cubicBezTo>
                  <a:lnTo>
                    <a:pt x="0" y="23195"/>
                  </a:lnTo>
                  <a:cubicBezTo>
                    <a:pt x="0" y="17043"/>
                    <a:pt x="2444" y="11143"/>
                    <a:pt x="6794" y="6794"/>
                  </a:cubicBezTo>
                  <a:cubicBezTo>
                    <a:pt x="11143" y="2444"/>
                    <a:pt x="17043" y="0"/>
                    <a:pt x="23195" y="0"/>
                  </a:cubicBezTo>
                  <a:close/>
                </a:path>
              </a:pathLst>
            </a:custGeom>
            <a:solidFill>
              <a:srgbClr val="84E4A8"/>
            </a:solidFill>
          </p:spPr>
          <p:txBody>
            <a:bodyPr/>
            <a:lstStyle/>
            <a:p>
              <a:endParaRPr lang="en-US"/>
            </a:p>
          </p:txBody>
        </p:sp>
        <p:sp>
          <p:nvSpPr>
            <p:cNvPr id="8" name="TextBox 8">
              <a:extLst>
                <a:ext uri="{FF2B5EF4-FFF2-40B4-BE49-F238E27FC236}">
                  <a16:creationId xmlns:a16="http://schemas.microsoft.com/office/drawing/2014/main" id="{EC2ADBB2-9CAC-E3D4-7B6A-74FBB0DBF5C3}"/>
                </a:ext>
              </a:extLst>
            </p:cNvPr>
            <p:cNvSpPr txBox="1"/>
            <p:nvPr/>
          </p:nvSpPr>
          <p:spPr>
            <a:xfrm>
              <a:off x="0" y="-38100"/>
              <a:ext cx="5798675" cy="2616257"/>
            </a:xfrm>
            <a:prstGeom prst="rect">
              <a:avLst/>
            </a:prstGeom>
          </p:spPr>
          <p:txBody>
            <a:bodyPr lIns="39277" tIns="39277" rIns="39277" bIns="39277" rtlCol="0" anchor="ctr"/>
            <a:lstStyle/>
            <a:p>
              <a:pPr algn="ctr">
                <a:lnSpc>
                  <a:spcPts val="2879"/>
                </a:lnSpc>
              </a:pPr>
              <a:endParaRPr/>
            </a:p>
          </p:txBody>
        </p:sp>
      </p:grpSp>
      <p:grpSp>
        <p:nvGrpSpPr>
          <p:cNvPr id="9" name="Group 9">
            <a:extLst>
              <a:ext uri="{FF2B5EF4-FFF2-40B4-BE49-F238E27FC236}">
                <a16:creationId xmlns:a16="http://schemas.microsoft.com/office/drawing/2014/main" id="{56A1442C-8FEF-E5CC-E142-1A2D7F3B8B1C}"/>
              </a:ext>
            </a:extLst>
          </p:cNvPr>
          <p:cNvGrpSpPr/>
          <p:nvPr/>
        </p:nvGrpSpPr>
        <p:grpSpPr>
          <a:xfrm>
            <a:off x="1028700" y="2079956"/>
            <a:ext cx="2580660" cy="6892743"/>
            <a:chOff x="0" y="0"/>
            <a:chExt cx="679680" cy="1815373"/>
          </a:xfrm>
        </p:grpSpPr>
        <p:sp>
          <p:nvSpPr>
            <p:cNvPr id="10" name="Freeform 10">
              <a:extLst>
                <a:ext uri="{FF2B5EF4-FFF2-40B4-BE49-F238E27FC236}">
                  <a16:creationId xmlns:a16="http://schemas.microsoft.com/office/drawing/2014/main" id="{E681134E-7065-233F-1D6C-9208E893C5E0}"/>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1" name="TextBox 11">
              <a:extLst>
                <a:ext uri="{FF2B5EF4-FFF2-40B4-BE49-F238E27FC236}">
                  <a16:creationId xmlns:a16="http://schemas.microsoft.com/office/drawing/2014/main" id="{B226B168-3DD6-A155-13A7-AA2A282E8E9D}"/>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2" name="Group 12">
            <a:extLst>
              <a:ext uri="{FF2B5EF4-FFF2-40B4-BE49-F238E27FC236}">
                <a16:creationId xmlns:a16="http://schemas.microsoft.com/office/drawing/2014/main" id="{AEF066D4-9C9D-4FEF-BEF5-F2631E22AB82}"/>
              </a:ext>
            </a:extLst>
          </p:cNvPr>
          <p:cNvGrpSpPr/>
          <p:nvPr/>
        </p:nvGrpSpPr>
        <p:grpSpPr>
          <a:xfrm>
            <a:off x="1048764" y="3873234"/>
            <a:ext cx="2540533" cy="2540533"/>
            <a:chOff x="0" y="0"/>
            <a:chExt cx="6350000" cy="6350000"/>
          </a:xfrm>
        </p:grpSpPr>
        <p:sp>
          <p:nvSpPr>
            <p:cNvPr id="13" name="Freeform 13">
              <a:extLst>
                <a:ext uri="{FF2B5EF4-FFF2-40B4-BE49-F238E27FC236}">
                  <a16:creationId xmlns:a16="http://schemas.microsoft.com/office/drawing/2014/main" id="{50B15BFD-4A5F-1A5A-C005-B98E1FA77E7D}"/>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t="-25000" b="-25000"/>
              </a:stretch>
            </a:blipFill>
          </p:spPr>
          <p:txBody>
            <a:bodyPr/>
            <a:lstStyle/>
            <a:p>
              <a:endParaRPr lang="en-US"/>
            </a:p>
          </p:txBody>
        </p:sp>
      </p:grpSp>
      <p:sp>
        <p:nvSpPr>
          <p:cNvPr id="14" name="TextBox 14">
            <a:extLst>
              <a:ext uri="{FF2B5EF4-FFF2-40B4-BE49-F238E27FC236}">
                <a16:creationId xmlns:a16="http://schemas.microsoft.com/office/drawing/2014/main" id="{B8267EF1-CE8B-9419-1038-11EDB14D8F79}"/>
              </a:ext>
            </a:extLst>
          </p:cNvPr>
          <p:cNvSpPr txBox="1"/>
          <p:nvPr/>
        </p:nvSpPr>
        <p:spPr>
          <a:xfrm>
            <a:off x="5402536" y="681423"/>
            <a:ext cx="7377446" cy="770535"/>
          </a:xfrm>
          <a:prstGeom prst="rect">
            <a:avLst/>
          </a:prstGeom>
        </p:spPr>
        <p:txBody>
          <a:bodyPr lIns="0" tIns="0" rIns="0" bIns="0" rtlCol="0" anchor="t">
            <a:spAutoFit/>
          </a:bodyPr>
          <a:lstStyle/>
          <a:p>
            <a:pPr algn="ctr">
              <a:lnSpc>
                <a:spcPts val="6354"/>
              </a:lnSpc>
            </a:pPr>
            <a:r>
              <a:rPr lang="en-US" sz="4538" b="1">
                <a:solidFill>
                  <a:srgbClr val="336EA8"/>
                </a:solidFill>
                <a:latin typeface="Canva Sans Bold"/>
                <a:ea typeface="Canva Sans Bold"/>
                <a:cs typeface="Canva Sans Bold"/>
                <a:sym typeface="Canva Sans Bold"/>
              </a:rPr>
              <a:t>Project Team + Roles</a:t>
            </a:r>
          </a:p>
        </p:txBody>
      </p:sp>
      <p:grpSp>
        <p:nvGrpSpPr>
          <p:cNvPr id="15" name="Group 15">
            <a:extLst>
              <a:ext uri="{FF2B5EF4-FFF2-40B4-BE49-F238E27FC236}">
                <a16:creationId xmlns:a16="http://schemas.microsoft.com/office/drawing/2014/main" id="{E2FA73B1-608B-62E0-BA88-AAA85459C40A}"/>
              </a:ext>
            </a:extLst>
          </p:cNvPr>
          <p:cNvGrpSpPr/>
          <p:nvPr/>
        </p:nvGrpSpPr>
        <p:grpSpPr>
          <a:xfrm>
            <a:off x="1048764" y="2027684"/>
            <a:ext cx="2580660" cy="6892743"/>
            <a:chOff x="0" y="0"/>
            <a:chExt cx="679680" cy="1815373"/>
          </a:xfrm>
        </p:grpSpPr>
        <p:sp>
          <p:nvSpPr>
            <p:cNvPr id="16" name="Freeform 16">
              <a:extLst>
                <a:ext uri="{FF2B5EF4-FFF2-40B4-BE49-F238E27FC236}">
                  <a16:creationId xmlns:a16="http://schemas.microsoft.com/office/drawing/2014/main" id="{4CB32D12-7C66-C73B-C61D-40D715F3B665}"/>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7" name="TextBox 17">
              <a:extLst>
                <a:ext uri="{FF2B5EF4-FFF2-40B4-BE49-F238E27FC236}">
                  <a16:creationId xmlns:a16="http://schemas.microsoft.com/office/drawing/2014/main" id="{D2FE1F53-82BA-8C90-0C93-84E1B83C0713}"/>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8" name="Group 18">
            <a:extLst>
              <a:ext uri="{FF2B5EF4-FFF2-40B4-BE49-F238E27FC236}">
                <a16:creationId xmlns:a16="http://schemas.microsoft.com/office/drawing/2014/main" id="{206415B9-D877-64AF-9419-AAB8AE849580}"/>
              </a:ext>
            </a:extLst>
          </p:cNvPr>
          <p:cNvGrpSpPr/>
          <p:nvPr/>
        </p:nvGrpSpPr>
        <p:grpSpPr>
          <a:xfrm>
            <a:off x="1027031" y="3873234"/>
            <a:ext cx="2540533" cy="2540533"/>
            <a:chOff x="0" y="0"/>
            <a:chExt cx="6350000" cy="6350000"/>
          </a:xfrm>
        </p:grpSpPr>
        <p:sp>
          <p:nvSpPr>
            <p:cNvPr id="19" name="Freeform 19">
              <a:extLst>
                <a:ext uri="{FF2B5EF4-FFF2-40B4-BE49-F238E27FC236}">
                  <a16:creationId xmlns:a16="http://schemas.microsoft.com/office/drawing/2014/main" id="{1EB766FD-7D6D-33C8-349A-08125AEEE3BD}"/>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7"/>
              <a:stretch>
                <a:fillRect t="-16747" b="-16747"/>
              </a:stretch>
            </a:blipFill>
          </p:spPr>
          <p:txBody>
            <a:bodyPr/>
            <a:lstStyle/>
            <a:p>
              <a:endParaRPr lang="en-US"/>
            </a:p>
          </p:txBody>
        </p:sp>
      </p:grpSp>
      <p:grpSp>
        <p:nvGrpSpPr>
          <p:cNvPr id="20" name="Group 20">
            <a:extLst>
              <a:ext uri="{FF2B5EF4-FFF2-40B4-BE49-F238E27FC236}">
                <a16:creationId xmlns:a16="http://schemas.microsoft.com/office/drawing/2014/main" id="{2FFFFDA1-EA26-0C42-C4E8-4D6B37B78CB7}"/>
              </a:ext>
            </a:extLst>
          </p:cNvPr>
          <p:cNvGrpSpPr/>
          <p:nvPr/>
        </p:nvGrpSpPr>
        <p:grpSpPr>
          <a:xfrm>
            <a:off x="1084293" y="2027684"/>
            <a:ext cx="2580660" cy="6892743"/>
            <a:chOff x="0" y="0"/>
            <a:chExt cx="679680" cy="1815373"/>
          </a:xfrm>
        </p:grpSpPr>
        <p:sp>
          <p:nvSpPr>
            <p:cNvPr id="21" name="Freeform 21">
              <a:extLst>
                <a:ext uri="{FF2B5EF4-FFF2-40B4-BE49-F238E27FC236}">
                  <a16:creationId xmlns:a16="http://schemas.microsoft.com/office/drawing/2014/main" id="{865EB715-2FAC-07B0-3ECA-5A213D46EA92}"/>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2" name="TextBox 22">
              <a:extLst>
                <a:ext uri="{FF2B5EF4-FFF2-40B4-BE49-F238E27FC236}">
                  <a16:creationId xmlns:a16="http://schemas.microsoft.com/office/drawing/2014/main" id="{29F6A0E5-AD78-5A2A-28F8-6603F2D48F6C}"/>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3" name="Group 23">
            <a:extLst>
              <a:ext uri="{FF2B5EF4-FFF2-40B4-BE49-F238E27FC236}">
                <a16:creationId xmlns:a16="http://schemas.microsoft.com/office/drawing/2014/main" id="{12BE65E9-E0D8-4AAF-CB9C-B92CCBEC7E1D}"/>
              </a:ext>
            </a:extLst>
          </p:cNvPr>
          <p:cNvGrpSpPr/>
          <p:nvPr/>
        </p:nvGrpSpPr>
        <p:grpSpPr>
          <a:xfrm>
            <a:off x="1124421" y="3873234"/>
            <a:ext cx="2540533" cy="2540533"/>
            <a:chOff x="0" y="0"/>
            <a:chExt cx="6350000" cy="6350000"/>
          </a:xfrm>
        </p:grpSpPr>
        <p:sp>
          <p:nvSpPr>
            <p:cNvPr id="24" name="Freeform 24">
              <a:extLst>
                <a:ext uri="{FF2B5EF4-FFF2-40B4-BE49-F238E27FC236}">
                  <a16:creationId xmlns:a16="http://schemas.microsoft.com/office/drawing/2014/main" id="{6B834530-5619-8587-A1DB-26E4D9BF0B5B}"/>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8"/>
              <a:stretch>
                <a:fillRect t="-31120" b="-31120"/>
              </a:stretch>
            </a:blipFill>
          </p:spPr>
          <p:txBody>
            <a:bodyPr/>
            <a:lstStyle/>
            <a:p>
              <a:endParaRPr lang="en-US"/>
            </a:p>
          </p:txBody>
        </p:sp>
      </p:grpSp>
      <p:grpSp>
        <p:nvGrpSpPr>
          <p:cNvPr id="25" name="Group 25">
            <a:extLst>
              <a:ext uri="{FF2B5EF4-FFF2-40B4-BE49-F238E27FC236}">
                <a16:creationId xmlns:a16="http://schemas.microsoft.com/office/drawing/2014/main" id="{652B7907-0DFB-F65F-77F0-8F95511CF274}"/>
              </a:ext>
            </a:extLst>
          </p:cNvPr>
          <p:cNvGrpSpPr/>
          <p:nvPr/>
        </p:nvGrpSpPr>
        <p:grpSpPr>
          <a:xfrm>
            <a:off x="1048764" y="2079956"/>
            <a:ext cx="2580660" cy="6892743"/>
            <a:chOff x="0" y="0"/>
            <a:chExt cx="679680" cy="1815373"/>
          </a:xfrm>
        </p:grpSpPr>
        <p:sp>
          <p:nvSpPr>
            <p:cNvPr id="26" name="Freeform 26">
              <a:extLst>
                <a:ext uri="{FF2B5EF4-FFF2-40B4-BE49-F238E27FC236}">
                  <a16:creationId xmlns:a16="http://schemas.microsoft.com/office/drawing/2014/main" id="{FFD21BE4-E458-AA80-00EC-C9DCE401A661}"/>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7" name="TextBox 27">
              <a:extLst>
                <a:ext uri="{FF2B5EF4-FFF2-40B4-BE49-F238E27FC236}">
                  <a16:creationId xmlns:a16="http://schemas.microsoft.com/office/drawing/2014/main" id="{C395C2D9-229F-111E-01C2-86AEB1567E76}"/>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8" name="Group 28">
            <a:extLst>
              <a:ext uri="{FF2B5EF4-FFF2-40B4-BE49-F238E27FC236}">
                <a16:creationId xmlns:a16="http://schemas.microsoft.com/office/drawing/2014/main" id="{9903CD1D-DC86-68E9-F717-63E64A9F6F4E}"/>
              </a:ext>
            </a:extLst>
          </p:cNvPr>
          <p:cNvGrpSpPr/>
          <p:nvPr/>
        </p:nvGrpSpPr>
        <p:grpSpPr>
          <a:xfrm>
            <a:off x="1084293" y="3873234"/>
            <a:ext cx="2540533" cy="2540533"/>
            <a:chOff x="0" y="0"/>
            <a:chExt cx="6350000" cy="6350000"/>
          </a:xfrm>
        </p:grpSpPr>
        <p:sp>
          <p:nvSpPr>
            <p:cNvPr id="29" name="Freeform 29">
              <a:extLst>
                <a:ext uri="{FF2B5EF4-FFF2-40B4-BE49-F238E27FC236}">
                  <a16:creationId xmlns:a16="http://schemas.microsoft.com/office/drawing/2014/main" id="{7257CC2C-6292-6FF1-F79B-01D9D6DFDB76}"/>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9"/>
              <a:stretch>
                <a:fillRect t="-16666" b="-16666"/>
              </a:stretch>
            </a:blipFill>
          </p:spPr>
          <p:txBody>
            <a:bodyPr/>
            <a:lstStyle/>
            <a:p>
              <a:endParaRPr lang="en-US"/>
            </a:p>
          </p:txBody>
        </p:sp>
      </p:grpSp>
      <p:grpSp>
        <p:nvGrpSpPr>
          <p:cNvPr id="30" name="Group 30">
            <a:extLst>
              <a:ext uri="{FF2B5EF4-FFF2-40B4-BE49-F238E27FC236}">
                <a16:creationId xmlns:a16="http://schemas.microsoft.com/office/drawing/2014/main" id="{7369DE9D-E175-735A-971C-FBE5AD3D5CA9}"/>
              </a:ext>
            </a:extLst>
          </p:cNvPr>
          <p:cNvGrpSpPr/>
          <p:nvPr/>
        </p:nvGrpSpPr>
        <p:grpSpPr>
          <a:xfrm>
            <a:off x="1060480" y="2079956"/>
            <a:ext cx="2588158" cy="6892743"/>
            <a:chOff x="0" y="0"/>
            <a:chExt cx="3450877" cy="9190325"/>
          </a:xfrm>
        </p:grpSpPr>
        <p:grpSp>
          <p:nvGrpSpPr>
            <p:cNvPr id="31" name="Group 31">
              <a:extLst>
                <a:ext uri="{FF2B5EF4-FFF2-40B4-BE49-F238E27FC236}">
                  <a16:creationId xmlns:a16="http://schemas.microsoft.com/office/drawing/2014/main" id="{9F6533F4-6EDD-E66C-6A6B-F9ACC3A15457}"/>
                </a:ext>
              </a:extLst>
            </p:cNvPr>
            <p:cNvGrpSpPr/>
            <p:nvPr/>
          </p:nvGrpSpPr>
          <p:grpSpPr>
            <a:xfrm>
              <a:off x="0" y="0"/>
              <a:ext cx="3440880" cy="9190325"/>
              <a:chOff x="0" y="0"/>
              <a:chExt cx="679680" cy="1815373"/>
            </a:xfrm>
          </p:grpSpPr>
          <p:sp>
            <p:nvSpPr>
              <p:cNvPr id="32" name="Freeform 32">
                <a:extLst>
                  <a:ext uri="{FF2B5EF4-FFF2-40B4-BE49-F238E27FC236}">
                    <a16:creationId xmlns:a16="http://schemas.microsoft.com/office/drawing/2014/main" id="{B0EA2F88-CB5F-4E6A-3EB4-4E42A1A0C080}"/>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33" name="TextBox 33">
                <a:extLst>
                  <a:ext uri="{FF2B5EF4-FFF2-40B4-BE49-F238E27FC236}">
                    <a16:creationId xmlns:a16="http://schemas.microsoft.com/office/drawing/2014/main" id="{FE1A5C3E-1C0E-D569-9114-D42A443C6D5A}"/>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34" name="Group 34">
              <a:extLst>
                <a:ext uri="{FF2B5EF4-FFF2-40B4-BE49-F238E27FC236}">
                  <a16:creationId xmlns:a16="http://schemas.microsoft.com/office/drawing/2014/main" id="{8C7D6C55-7D99-E42A-D9F1-A084F411AEC1}"/>
                </a:ext>
              </a:extLst>
            </p:cNvPr>
            <p:cNvGrpSpPr/>
            <p:nvPr/>
          </p:nvGrpSpPr>
          <p:grpSpPr>
            <a:xfrm>
              <a:off x="63500" y="2391038"/>
              <a:ext cx="3387377" cy="3387377"/>
              <a:chOff x="0" y="0"/>
              <a:chExt cx="6350000" cy="6350000"/>
            </a:xfrm>
          </p:grpSpPr>
          <p:sp>
            <p:nvSpPr>
              <p:cNvPr id="35" name="Freeform 35">
                <a:extLst>
                  <a:ext uri="{FF2B5EF4-FFF2-40B4-BE49-F238E27FC236}">
                    <a16:creationId xmlns:a16="http://schemas.microsoft.com/office/drawing/2014/main" id="{FC2FFAC5-7EB9-6E75-DEF0-2DF883E19315}"/>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10"/>
                <a:stretch>
                  <a:fillRect l="-38888" r="-38888"/>
                </a:stretch>
              </a:blipFill>
            </p:spPr>
            <p:txBody>
              <a:bodyPr/>
              <a:lstStyle/>
              <a:p>
                <a:endParaRPr lang="en-US"/>
              </a:p>
            </p:txBody>
          </p:sp>
        </p:grpSp>
      </p:grpSp>
      <p:grpSp>
        <p:nvGrpSpPr>
          <p:cNvPr id="36" name="Group 36">
            <a:extLst>
              <a:ext uri="{FF2B5EF4-FFF2-40B4-BE49-F238E27FC236}">
                <a16:creationId xmlns:a16="http://schemas.microsoft.com/office/drawing/2014/main" id="{4376B5CF-284A-AEE7-06D1-DDBF21F31905}"/>
              </a:ext>
            </a:extLst>
          </p:cNvPr>
          <p:cNvGrpSpPr/>
          <p:nvPr/>
        </p:nvGrpSpPr>
        <p:grpSpPr>
          <a:xfrm>
            <a:off x="986904" y="2027684"/>
            <a:ext cx="16272396" cy="6945015"/>
            <a:chOff x="0" y="0"/>
            <a:chExt cx="4285734" cy="1829140"/>
          </a:xfrm>
        </p:grpSpPr>
        <p:sp>
          <p:nvSpPr>
            <p:cNvPr id="37" name="Freeform 37">
              <a:extLst>
                <a:ext uri="{FF2B5EF4-FFF2-40B4-BE49-F238E27FC236}">
                  <a16:creationId xmlns:a16="http://schemas.microsoft.com/office/drawing/2014/main" id="{BB4AC2AC-7E8A-F21A-115F-EE6133781DAA}"/>
                </a:ext>
              </a:extLst>
            </p:cNvPr>
            <p:cNvSpPr/>
            <p:nvPr/>
          </p:nvSpPr>
          <p:spPr>
            <a:xfrm>
              <a:off x="0" y="0"/>
              <a:ext cx="4285734" cy="1829140"/>
            </a:xfrm>
            <a:custGeom>
              <a:avLst/>
              <a:gdLst/>
              <a:ahLst/>
              <a:cxnLst/>
              <a:rect l="l" t="t" r="r" b="b"/>
              <a:pathLst>
                <a:path w="4285734" h="1829140">
                  <a:moveTo>
                    <a:pt x="24264" y="0"/>
                  </a:moveTo>
                  <a:lnTo>
                    <a:pt x="4261470" y="0"/>
                  </a:lnTo>
                  <a:cubicBezTo>
                    <a:pt x="4274871" y="0"/>
                    <a:pt x="4285734" y="10863"/>
                    <a:pt x="4285734" y="24264"/>
                  </a:cubicBezTo>
                  <a:lnTo>
                    <a:pt x="4285734" y="1804875"/>
                  </a:lnTo>
                  <a:cubicBezTo>
                    <a:pt x="4285734" y="1811311"/>
                    <a:pt x="4283178" y="1817482"/>
                    <a:pt x="4278627" y="1822033"/>
                  </a:cubicBezTo>
                  <a:cubicBezTo>
                    <a:pt x="4274077" y="1826583"/>
                    <a:pt x="4267905" y="1829140"/>
                    <a:pt x="4261470" y="1829140"/>
                  </a:cubicBezTo>
                  <a:lnTo>
                    <a:pt x="24264" y="1829140"/>
                  </a:lnTo>
                  <a:cubicBezTo>
                    <a:pt x="10863" y="1829140"/>
                    <a:pt x="0" y="1818276"/>
                    <a:pt x="0" y="1804875"/>
                  </a:cubicBezTo>
                  <a:lnTo>
                    <a:pt x="0" y="24264"/>
                  </a:lnTo>
                  <a:cubicBezTo>
                    <a:pt x="0" y="17829"/>
                    <a:pt x="2556" y="11657"/>
                    <a:pt x="7107" y="7107"/>
                  </a:cubicBezTo>
                  <a:cubicBezTo>
                    <a:pt x="11657" y="2556"/>
                    <a:pt x="17829" y="0"/>
                    <a:pt x="24264" y="0"/>
                  </a:cubicBezTo>
                  <a:close/>
                </a:path>
              </a:pathLst>
            </a:custGeom>
            <a:solidFill>
              <a:srgbClr val="336EA8"/>
            </a:solidFill>
          </p:spPr>
          <p:txBody>
            <a:bodyPr/>
            <a:lstStyle/>
            <a:p>
              <a:endParaRPr lang="en-US"/>
            </a:p>
          </p:txBody>
        </p:sp>
        <p:sp>
          <p:nvSpPr>
            <p:cNvPr id="38" name="TextBox 38">
              <a:extLst>
                <a:ext uri="{FF2B5EF4-FFF2-40B4-BE49-F238E27FC236}">
                  <a16:creationId xmlns:a16="http://schemas.microsoft.com/office/drawing/2014/main" id="{867367BC-6A52-D40B-DADF-BEFA3118A416}"/>
                </a:ext>
              </a:extLst>
            </p:cNvPr>
            <p:cNvSpPr txBox="1"/>
            <p:nvPr/>
          </p:nvSpPr>
          <p:spPr>
            <a:xfrm>
              <a:off x="0" y="-38100"/>
              <a:ext cx="4285734" cy="1867240"/>
            </a:xfrm>
            <a:prstGeom prst="rect">
              <a:avLst/>
            </a:prstGeom>
          </p:spPr>
          <p:txBody>
            <a:bodyPr lIns="50800" tIns="50800" rIns="50800" bIns="50800" rtlCol="0" anchor="ctr"/>
            <a:lstStyle/>
            <a:p>
              <a:pPr algn="ctr">
                <a:lnSpc>
                  <a:spcPts val="2879"/>
                </a:lnSpc>
              </a:pPr>
              <a:endParaRPr/>
            </a:p>
          </p:txBody>
        </p:sp>
      </p:grpSp>
      <p:sp>
        <p:nvSpPr>
          <p:cNvPr id="41" name="TextBox 41">
            <a:extLst>
              <a:ext uri="{FF2B5EF4-FFF2-40B4-BE49-F238E27FC236}">
                <a16:creationId xmlns:a16="http://schemas.microsoft.com/office/drawing/2014/main" id="{2643EBF3-CA2E-2444-C7B2-E4DB61F1F2FF}"/>
              </a:ext>
            </a:extLst>
          </p:cNvPr>
          <p:cNvSpPr txBox="1"/>
          <p:nvPr/>
        </p:nvSpPr>
        <p:spPr>
          <a:xfrm>
            <a:off x="4272352" y="3333404"/>
            <a:ext cx="12758348" cy="4841967"/>
          </a:xfrm>
          <a:prstGeom prst="rect">
            <a:avLst/>
          </a:prstGeom>
        </p:spPr>
        <p:txBody>
          <a:bodyPr lIns="0" tIns="0" rIns="0" bIns="0" rtlCol="0" anchor="t">
            <a:spAutoFit/>
          </a:bodyPr>
          <a:lstStyle/>
          <a:p>
            <a:pPr algn="ctr">
              <a:lnSpc>
                <a:spcPts val="3835"/>
              </a:lnSpc>
            </a:pPr>
            <a:r>
              <a:rPr lang="en-US" sz="2739" b="1" dirty="0">
                <a:solidFill>
                  <a:srgbClr val="000000"/>
                </a:solidFill>
                <a:latin typeface="Canva Sans Bold"/>
                <a:ea typeface="Canva Sans Bold"/>
                <a:cs typeface="Canva Sans Bold"/>
                <a:sym typeface="Canva Sans Bold"/>
              </a:rPr>
              <a:t>Introduction</a:t>
            </a:r>
          </a:p>
          <a:p>
            <a:pPr>
              <a:lnSpc>
                <a:spcPts val="3835"/>
              </a:lnSpc>
            </a:pPr>
            <a:r>
              <a:rPr lang="en-US" sz="2739" b="1" dirty="0">
                <a:solidFill>
                  <a:srgbClr val="000000"/>
                </a:solidFill>
                <a:latin typeface="Canva Sans Bold"/>
                <a:ea typeface="Canva Sans Bold"/>
                <a:cs typeface="Canva Sans Bold"/>
                <a:sym typeface="Canva Sans Bold"/>
              </a:rPr>
              <a:t>I am a third-year MIS student at Helwan University (English Section). I specialize in integrating technology with business strategies. My focus is on optimizing operational efficiency through digital transformation and providing actionable, data-driven insights to enhance decision-making..</a:t>
            </a:r>
          </a:p>
          <a:p>
            <a:pPr algn="ctr">
              <a:lnSpc>
                <a:spcPts val="3835"/>
              </a:lnSpc>
            </a:pPr>
            <a:r>
              <a:rPr lang="en-US" sz="2739" b="1" dirty="0">
                <a:solidFill>
                  <a:srgbClr val="000000"/>
                </a:solidFill>
                <a:latin typeface="Canva Sans Bold"/>
                <a:ea typeface="Canva Sans Bold"/>
                <a:cs typeface="Canva Sans Bold"/>
                <a:sym typeface="Canva Sans Bold"/>
              </a:rPr>
              <a:t>Role</a:t>
            </a:r>
          </a:p>
          <a:p>
            <a:pPr algn="ctr">
              <a:lnSpc>
                <a:spcPts val="3835"/>
              </a:lnSpc>
            </a:pPr>
            <a:r>
              <a:rPr lang="en-US" sz="2739" b="1" dirty="0">
                <a:solidFill>
                  <a:srgbClr val="000000"/>
                </a:solidFill>
                <a:latin typeface="Canva Sans Bold"/>
                <a:ea typeface="Canva Sans Bold"/>
                <a:cs typeface="Canva Sans Bold"/>
                <a:sym typeface="Canva Sans Bold"/>
              </a:rPr>
              <a:t>Data Insights Specialist</a:t>
            </a:r>
          </a:p>
          <a:p>
            <a:pPr algn="l">
              <a:lnSpc>
                <a:spcPts val="3835"/>
              </a:lnSpc>
            </a:pPr>
            <a:r>
              <a:rPr lang="en-US" sz="2739" b="1" dirty="0">
                <a:solidFill>
                  <a:srgbClr val="000000"/>
                </a:solidFill>
                <a:latin typeface="Canva Sans Bold"/>
                <a:ea typeface="Canva Sans Bold"/>
                <a:cs typeface="Canva Sans Bold"/>
                <a:sym typeface="Canva Sans Bold"/>
              </a:rPr>
              <a:t> – Data analysis and insights generation </a:t>
            </a:r>
          </a:p>
          <a:p>
            <a:pPr algn="l">
              <a:lnSpc>
                <a:spcPts val="3835"/>
              </a:lnSpc>
            </a:pPr>
            <a:r>
              <a:rPr lang="en-US" sz="2739" b="1" dirty="0">
                <a:solidFill>
                  <a:srgbClr val="000000"/>
                </a:solidFill>
                <a:latin typeface="Canva Sans Bold"/>
                <a:ea typeface="Canva Sans Bold"/>
                <a:cs typeface="Canva Sans Bold"/>
                <a:sym typeface="Canva Sans Bold"/>
              </a:rPr>
              <a:t> – Supporting the team in extracting and refining final insights </a:t>
            </a:r>
          </a:p>
          <a:p>
            <a:pPr algn="l">
              <a:lnSpc>
                <a:spcPts val="3835"/>
              </a:lnSpc>
            </a:pPr>
            <a:r>
              <a:rPr lang="en-US" sz="2739" b="1" dirty="0">
                <a:solidFill>
                  <a:srgbClr val="000000"/>
                </a:solidFill>
                <a:latin typeface="Canva Sans Bold"/>
                <a:ea typeface="Canva Sans Bold"/>
                <a:cs typeface="Canva Sans Bold"/>
                <a:sym typeface="Canva Sans Bold"/>
              </a:rPr>
              <a:t> – Data analysis using Excel (Pivot Tables + Charts)</a:t>
            </a:r>
          </a:p>
        </p:txBody>
      </p:sp>
      <p:sp>
        <p:nvSpPr>
          <p:cNvPr id="42" name="TextBox 42">
            <a:extLst>
              <a:ext uri="{FF2B5EF4-FFF2-40B4-BE49-F238E27FC236}">
                <a16:creationId xmlns:a16="http://schemas.microsoft.com/office/drawing/2014/main" id="{AB16C266-31DD-118D-80B5-6EF959186FE4}"/>
              </a:ext>
            </a:extLst>
          </p:cNvPr>
          <p:cNvSpPr txBox="1"/>
          <p:nvPr/>
        </p:nvSpPr>
        <p:spPr>
          <a:xfrm>
            <a:off x="6117254" y="2266524"/>
            <a:ext cx="4474546" cy="828040"/>
          </a:xfrm>
          <a:prstGeom prst="rect">
            <a:avLst/>
          </a:prstGeom>
        </p:spPr>
        <p:txBody>
          <a:bodyPr wrap="square" lIns="0" tIns="0" rIns="0" bIns="0" rtlCol="0" anchor="t">
            <a:spAutoFit/>
          </a:bodyPr>
          <a:lstStyle/>
          <a:p>
            <a:pPr algn="ctr">
              <a:lnSpc>
                <a:spcPts val="6860"/>
              </a:lnSpc>
            </a:pPr>
            <a:r>
              <a:rPr lang="en-US" sz="4900" b="1" dirty="0">
                <a:solidFill>
                  <a:srgbClr val="000000"/>
                </a:solidFill>
                <a:latin typeface="Canva Sans Bold"/>
                <a:ea typeface="Canva Sans Bold"/>
                <a:cs typeface="Canva Sans Bold"/>
                <a:sym typeface="Canva Sans Bold"/>
              </a:rPr>
              <a:t>Menna Younes</a:t>
            </a:r>
          </a:p>
        </p:txBody>
      </p:sp>
      <p:pic>
        <p:nvPicPr>
          <p:cNvPr id="44" name="Picture 43">
            <a:extLst>
              <a:ext uri="{FF2B5EF4-FFF2-40B4-BE49-F238E27FC236}">
                <a16:creationId xmlns:a16="http://schemas.microsoft.com/office/drawing/2014/main" id="{FC7B8468-2677-48DF-C704-A0B6DAE61AF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8962442"/>
            <a:ext cx="1324558" cy="1324558"/>
          </a:xfrm>
          <a:prstGeom prst="rect">
            <a:avLst/>
          </a:prstGeom>
        </p:spPr>
      </p:pic>
      <p:pic>
        <p:nvPicPr>
          <p:cNvPr id="5" name="Picture 4">
            <a:extLst>
              <a:ext uri="{FF2B5EF4-FFF2-40B4-BE49-F238E27FC236}">
                <a16:creationId xmlns:a16="http://schemas.microsoft.com/office/drawing/2014/main" id="{BBF787AE-DD35-CFBB-B1C9-6A916CED0666}"/>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9007" t="14441" r="24550" b="34302"/>
          <a:stretch>
            <a:fillRect/>
          </a:stretch>
        </p:blipFill>
        <p:spPr>
          <a:xfrm>
            <a:off x="1192352" y="3726435"/>
            <a:ext cx="2826000" cy="2826000"/>
          </a:xfrm>
          <a:prstGeom prst="ellipse">
            <a:avLst/>
          </a:prstGeom>
        </p:spPr>
      </p:pic>
      <p:pic>
        <p:nvPicPr>
          <p:cNvPr id="48" name="Picture 47">
            <a:extLst>
              <a:ext uri="{FF2B5EF4-FFF2-40B4-BE49-F238E27FC236}">
                <a16:creationId xmlns:a16="http://schemas.microsoft.com/office/drawing/2014/main" id="{C1ED2621-3F60-5D7A-2B54-F89C07DBB45B}"/>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4885940" y="6552435"/>
            <a:ext cx="2160000" cy="2160000"/>
          </a:xfrm>
          <a:prstGeom prst="rect">
            <a:avLst/>
          </a:prstGeom>
        </p:spPr>
      </p:pic>
    </p:spTree>
    <p:extLst>
      <p:ext uri="{BB962C8B-B14F-4D97-AF65-F5344CB8AC3E}">
        <p14:creationId xmlns:p14="http://schemas.microsoft.com/office/powerpoint/2010/main" val="3993199324"/>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6D4D42E-EAFA-800E-2876-B026DE06BDB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9774AA0-E6CC-96B2-9137-7B915D5AC215}"/>
              </a:ext>
            </a:extLst>
          </p:cNvPr>
          <p:cNvSpPr/>
          <p:nvPr/>
        </p:nvSpPr>
        <p:spPr>
          <a:xfrm>
            <a:off x="0" y="-1945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a:extLst>
              <a:ext uri="{FF2B5EF4-FFF2-40B4-BE49-F238E27FC236}">
                <a16:creationId xmlns:a16="http://schemas.microsoft.com/office/drawing/2014/main" id="{6DEF0402-3D17-2BEA-6A57-6B92E1712C29}"/>
              </a:ext>
            </a:extLst>
          </p:cNvPr>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a:extLst>
              <a:ext uri="{FF2B5EF4-FFF2-40B4-BE49-F238E27FC236}">
                <a16:creationId xmlns:a16="http://schemas.microsoft.com/office/drawing/2014/main" id="{F4049525-67C3-DC7C-5923-DCE835C193DD}"/>
              </a:ext>
            </a:extLst>
          </p:cNvPr>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a:extLst>
              <a:ext uri="{FF2B5EF4-FFF2-40B4-BE49-F238E27FC236}">
                <a16:creationId xmlns:a16="http://schemas.microsoft.com/office/drawing/2014/main" id="{6D9E03E5-488E-581C-75F8-4727F217BAE3}"/>
              </a:ext>
            </a:extLst>
          </p:cNvPr>
          <p:cNvGrpSpPr/>
          <p:nvPr/>
        </p:nvGrpSpPr>
        <p:grpSpPr>
          <a:xfrm>
            <a:off x="579906" y="1689812"/>
            <a:ext cx="17022707" cy="7568488"/>
            <a:chOff x="0" y="0"/>
            <a:chExt cx="5798675" cy="2578157"/>
          </a:xfrm>
        </p:grpSpPr>
        <p:sp>
          <p:nvSpPr>
            <p:cNvPr id="7" name="Freeform 7">
              <a:extLst>
                <a:ext uri="{FF2B5EF4-FFF2-40B4-BE49-F238E27FC236}">
                  <a16:creationId xmlns:a16="http://schemas.microsoft.com/office/drawing/2014/main" id="{B40B029F-2CD3-5C9F-93FE-72D791959D2F}"/>
                </a:ext>
              </a:extLst>
            </p:cNvPr>
            <p:cNvSpPr/>
            <p:nvPr/>
          </p:nvSpPr>
          <p:spPr>
            <a:xfrm>
              <a:off x="0" y="0"/>
              <a:ext cx="5798676" cy="2578157"/>
            </a:xfrm>
            <a:custGeom>
              <a:avLst/>
              <a:gdLst/>
              <a:ahLst/>
              <a:cxnLst/>
              <a:rect l="l" t="t" r="r" b="b"/>
              <a:pathLst>
                <a:path w="5798676" h="2578157">
                  <a:moveTo>
                    <a:pt x="23195" y="0"/>
                  </a:moveTo>
                  <a:lnTo>
                    <a:pt x="5775481" y="0"/>
                  </a:lnTo>
                  <a:cubicBezTo>
                    <a:pt x="5781632" y="0"/>
                    <a:pt x="5787532" y="2444"/>
                    <a:pt x="5791882" y="6794"/>
                  </a:cubicBezTo>
                  <a:cubicBezTo>
                    <a:pt x="5796232" y="11143"/>
                    <a:pt x="5798676" y="17043"/>
                    <a:pt x="5798676" y="23195"/>
                  </a:cubicBezTo>
                  <a:lnTo>
                    <a:pt x="5798676" y="2554962"/>
                  </a:lnTo>
                  <a:cubicBezTo>
                    <a:pt x="5798676" y="2561113"/>
                    <a:pt x="5796232" y="2567013"/>
                    <a:pt x="5791882" y="2571363"/>
                  </a:cubicBezTo>
                  <a:cubicBezTo>
                    <a:pt x="5787532" y="2575713"/>
                    <a:pt x="5781632" y="2578157"/>
                    <a:pt x="5775481" y="2578157"/>
                  </a:cubicBezTo>
                  <a:lnTo>
                    <a:pt x="23195" y="2578157"/>
                  </a:lnTo>
                  <a:cubicBezTo>
                    <a:pt x="17043" y="2578157"/>
                    <a:pt x="11143" y="2575713"/>
                    <a:pt x="6794" y="2571363"/>
                  </a:cubicBezTo>
                  <a:cubicBezTo>
                    <a:pt x="2444" y="2567013"/>
                    <a:pt x="0" y="2561113"/>
                    <a:pt x="0" y="2554962"/>
                  </a:cubicBezTo>
                  <a:lnTo>
                    <a:pt x="0" y="23195"/>
                  </a:lnTo>
                  <a:cubicBezTo>
                    <a:pt x="0" y="17043"/>
                    <a:pt x="2444" y="11143"/>
                    <a:pt x="6794" y="6794"/>
                  </a:cubicBezTo>
                  <a:cubicBezTo>
                    <a:pt x="11143" y="2444"/>
                    <a:pt x="17043" y="0"/>
                    <a:pt x="23195" y="0"/>
                  </a:cubicBezTo>
                  <a:close/>
                </a:path>
              </a:pathLst>
            </a:custGeom>
            <a:solidFill>
              <a:srgbClr val="84E4A8"/>
            </a:solidFill>
          </p:spPr>
          <p:txBody>
            <a:bodyPr/>
            <a:lstStyle/>
            <a:p>
              <a:endParaRPr lang="en-US"/>
            </a:p>
          </p:txBody>
        </p:sp>
        <p:sp>
          <p:nvSpPr>
            <p:cNvPr id="8" name="TextBox 8">
              <a:extLst>
                <a:ext uri="{FF2B5EF4-FFF2-40B4-BE49-F238E27FC236}">
                  <a16:creationId xmlns:a16="http://schemas.microsoft.com/office/drawing/2014/main" id="{14EB11F8-7255-94A0-ABA7-3653ECE4DB1B}"/>
                </a:ext>
              </a:extLst>
            </p:cNvPr>
            <p:cNvSpPr txBox="1"/>
            <p:nvPr/>
          </p:nvSpPr>
          <p:spPr>
            <a:xfrm>
              <a:off x="0" y="-38100"/>
              <a:ext cx="5798675" cy="2616257"/>
            </a:xfrm>
            <a:prstGeom prst="rect">
              <a:avLst/>
            </a:prstGeom>
          </p:spPr>
          <p:txBody>
            <a:bodyPr lIns="39277" tIns="39277" rIns="39277" bIns="39277" rtlCol="0" anchor="ctr"/>
            <a:lstStyle/>
            <a:p>
              <a:pPr algn="ctr">
                <a:lnSpc>
                  <a:spcPts val="2879"/>
                </a:lnSpc>
              </a:pPr>
              <a:endParaRPr/>
            </a:p>
          </p:txBody>
        </p:sp>
      </p:grpSp>
      <p:grpSp>
        <p:nvGrpSpPr>
          <p:cNvPr id="9" name="Group 9">
            <a:extLst>
              <a:ext uri="{FF2B5EF4-FFF2-40B4-BE49-F238E27FC236}">
                <a16:creationId xmlns:a16="http://schemas.microsoft.com/office/drawing/2014/main" id="{85B440FA-42A7-5DAA-A432-DAE40145B0C9}"/>
              </a:ext>
            </a:extLst>
          </p:cNvPr>
          <p:cNvGrpSpPr/>
          <p:nvPr/>
        </p:nvGrpSpPr>
        <p:grpSpPr>
          <a:xfrm>
            <a:off x="1028700" y="2079956"/>
            <a:ext cx="2580660" cy="6892743"/>
            <a:chOff x="0" y="0"/>
            <a:chExt cx="679680" cy="1815373"/>
          </a:xfrm>
        </p:grpSpPr>
        <p:sp>
          <p:nvSpPr>
            <p:cNvPr id="10" name="Freeform 10">
              <a:extLst>
                <a:ext uri="{FF2B5EF4-FFF2-40B4-BE49-F238E27FC236}">
                  <a16:creationId xmlns:a16="http://schemas.microsoft.com/office/drawing/2014/main" id="{5C191C75-B1A6-EDEE-584F-D2E2C99DF3B3}"/>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1" name="TextBox 11">
              <a:extLst>
                <a:ext uri="{FF2B5EF4-FFF2-40B4-BE49-F238E27FC236}">
                  <a16:creationId xmlns:a16="http://schemas.microsoft.com/office/drawing/2014/main" id="{B43D2633-7FAF-AECA-A9F8-1E7B1B9C8E44}"/>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2" name="Group 12">
            <a:extLst>
              <a:ext uri="{FF2B5EF4-FFF2-40B4-BE49-F238E27FC236}">
                <a16:creationId xmlns:a16="http://schemas.microsoft.com/office/drawing/2014/main" id="{E9594B34-D6D1-1715-7F68-F60E12195A5B}"/>
              </a:ext>
            </a:extLst>
          </p:cNvPr>
          <p:cNvGrpSpPr/>
          <p:nvPr/>
        </p:nvGrpSpPr>
        <p:grpSpPr>
          <a:xfrm>
            <a:off x="1048764" y="3873234"/>
            <a:ext cx="2540533" cy="2540533"/>
            <a:chOff x="0" y="0"/>
            <a:chExt cx="6350000" cy="6350000"/>
          </a:xfrm>
        </p:grpSpPr>
        <p:sp>
          <p:nvSpPr>
            <p:cNvPr id="13" name="Freeform 13">
              <a:extLst>
                <a:ext uri="{FF2B5EF4-FFF2-40B4-BE49-F238E27FC236}">
                  <a16:creationId xmlns:a16="http://schemas.microsoft.com/office/drawing/2014/main" id="{E6518C4A-D298-8ABC-8F0A-F932DFD2264B}"/>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t="-25000" b="-25000"/>
              </a:stretch>
            </a:blipFill>
          </p:spPr>
          <p:txBody>
            <a:bodyPr/>
            <a:lstStyle/>
            <a:p>
              <a:endParaRPr lang="en-US"/>
            </a:p>
          </p:txBody>
        </p:sp>
      </p:grpSp>
      <p:sp>
        <p:nvSpPr>
          <p:cNvPr id="14" name="TextBox 14">
            <a:extLst>
              <a:ext uri="{FF2B5EF4-FFF2-40B4-BE49-F238E27FC236}">
                <a16:creationId xmlns:a16="http://schemas.microsoft.com/office/drawing/2014/main" id="{28EFBC29-6542-203C-4743-6522D9B3DB63}"/>
              </a:ext>
            </a:extLst>
          </p:cNvPr>
          <p:cNvSpPr txBox="1"/>
          <p:nvPr/>
        </p:nvSpPr>
        <p:spPr>
          <a:xfrm>
            <a:off x="5402536" y="681423"/>
            <a:ext cx="7377446" cy="770535"/>
          </a:xfrm>
          <a:prstGeom prst="rect">
            <a:avLst/>
          </a:prstGeom>
        </p:spPr>
        <p:txBody>
          <a:bodyPr lIns="0" tIns="0" rIns="0" bIns="0" rtlCol="0" anchor="t">
            <a:spAutoFit/>
          </a:bodyPr>
          <a:lstStyle/>
          <a:p>
            <a:pPr algn="ctr">
              <a:lnSpc>
                <a:spcPts val="6354"/>
              </a:lnSpc>
            </a:pPr>
            <a:r>
              <a:rPr lang="en-US" sz="4538" b="1">
                <a:solidFill>
                  <a:srgbClr val="336EA8"/>
                </a:solidFill>
                <a:latin typeface="Canva Sans Bold"/>
                <a:ea typeface="Canva Sans Bold"/>
                <a:cs typeface="Canva Sans Bold"/>
                <a:sym typeface="Canva Sans Bold"/>
              </a:rPr>
              <a:t>Project Team + Roles</a:t>
            </a:r>
          </a:p>
        </p:txBody>
      </p:sp>
      <p:grpSp>
        <p:nvGrpSpPr>
          <p:cNvPr id="15" name="Group 15">
            <a:extLst>
              <a:ext uri="{FF2B5EF4-FFF2-40B4-BE49-F238E27FC236}">
                <a16:creationId xmlns:a16="http://schemas.microsoft.com/office/drawing/2014/main" id="{59458BF6-C594-568C-11E0-6D5866F90480}"/>
              </a:ext>
            </a:extLst>
          </p:cNvPr>
          <p:cNvGrpSpPr/>
          <p:nvPr/>
        </p:nvGrpSpPr>
        <p:grpSpPr>
          <a:xfrm>
            <a:off x="1048764" y="2027684"/>
            <a:ext cx="2580660" cy="6892743"/>
            <a:chOff x="0" y="0"/>
            <a:chExt cx="679680" cy="1815373"/>
          </a:xfrm>
        </p:grpSpPr>
        <p:sp>
          <p:nvSpPr>
            <p:cNvPr id="16" name="Freeform 16">
              <a:extLst>
                <a:ext uri="{FF2B5EF4-FFF2-40B4-BE49-F238E27FC236}">
                  <a16:creationId xmlns:a16="http://schemas.microsoft.com/office/drawing/2014/main" id="{E6D6ED6F-5A51-D553-3CB5-329DF1D5B631}"/>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7" name="TextBox 17">
              <a:extLst>
                <a:ext uri="{FF2B5EF4-FFF2-40B4-BE49-F238E27FC236}">
                  <a16:creationId xmlns:a16="http://schemas.microsoft.com/office/drawing/2014/main" id="{C811C17F-2DD1-52CD-B792-17D19769E281}"/>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8" name="Group 18">
            <a:extLst>
              <a:ext uri="{FF2B5EF4-FFF2-40B4-BE49-F238E27FC236}">
                <a16:creationId xmlns:a16="http://schemas.microsoft.com/office/drawing/2014/main" id="{D429E85B-9CB8-413C-2945-411E796A605B}"/>
              </a:ext>
            </a:extLst>
          </p:cNvPr>
          <p:cNvGrpSpPr/>
          <p:nvPr/>
        </p:nvGrpSpPr>
        <p:grpSpPr>
          <a:xfrm>
            <a:off x="1027031" y="3873234"/>
            <a:ext cx="2540533" cy="2540533"/>
            <a:chOff x="0" y="0"/>
            <a:chExt cx="6350000" cy="6350000"/>
          </a:xfrm>
        </p:grpSpPr>
        <p:sp>
          <p:nvSpPr>
            <p:cNvPr id="19" name="Freeform 19">
              <a:extLst>
                <a:ext uri="{FF2B5EF4-FFF2-40B4-BE49-F238E27FC236}">
                  <a16:creationId xmlns:a16="http://schemas.microsoft.com/office/drawing/2014/main" id="{2549B4D1-98C9-D7EA-E18C-D652BCCE6802}"/>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7"/>
              <a:stretch>
                <a:fillRect t="-16747" b="-16747"/>
              </a:stretch>
            </a:blipFill>
          </p:spPr>
          <p:txBody>
            <a:bodyPr/>
            <a:lstStyle/>
            <a:p>
              <a:endParaRPr lang="en-US"/>
            </a:p>
          </p:txBody>
        </p:sp>
      </p:grpSp>
      <p:grpSp>
        <p:nvGrpSpPr>
          <p:cNvPr id="20" name="Group 20">
            <a:extLst>
              <a:ext uri="{FF2B5EF4-FFF2-40B4-BE49-F238E27FC236}">
                <a16:creationId xmlns:a16="http://schemas.microsoft.com/office/drawing/2014/main" id="{1CDD287B-90CF-DDA0-1DA6-C52EC234A14A}"/>
              </a:ext>
            </a:extLst>
          </p:cNvPr>
          <p:cNvGrpSpPr/>
          <p:nvPr/>
        </p:nvGrpSpPr>
        <p:grpSpPr>
          <a:xfrm>
            <a:off x="1084293" y="2027684"/>
            <a:ext cx="2580660" cy="6892743"/>
            <a:chOff x="0" y="0"/>
            <a:chExt cx="679680" cy="1815373"/>
          </a:xfrm>
        </p:grpSpPr>
        <p:sp>
          <p:nvSpPr>
            <p:cNvPr id="21" name="Freeform 21">
              <a:extLst>
                <a:ext uri="{FF2B5EF4-FFF2-40B4-BE49-F238E27FC236}">
                  <a16:creationId xmlns:a16="http://schemas.microsoft.com/office/drawing/2014/main" id="{95F0EE5B-62E9-F3F9-D34A-CE17FE52F5E0}"/>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2" name="TextBox 22">
              <a:extLst>
                <a:ext uri="{FF2B5EF4-FFF2-40B4-BE49-F238E27FC236}">
                  <a16:creationId xmlns:a16="http://schemas.microsoft.com/office/drawing/2014/main" id="{E414B2CD-335E-E72E-814E-38ADCCBE7976}"/>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3" name="Group 23">
            <a:extLst>
              <a:ext uri="{FF2B5EF4-FFF2-40B4-BE49-F238E27FC236}">
                <a16:creationId xmlns:a16="http://schemas.microsoft.com/office/drawing/2014/main" id="{55E4DAA6-4778-4D40-34AE-4D660CF8A5A7}"/>
              </a:ext>
            </a:extLst>
          </p:cNvPr>
          <p:cNvGrpSpPr/>
          <p:nvPr/>
        </p:nvGrpSpPr>
        <p:grpSpPr>
          <a:xfrm>
            <a:off x="1124421" y="3873234"/>
            <a:ext cx="2540533" cy="2540533"/>
            <a:chOff x="0" y="0"/>
            <a:chExt cx="6350000" cy="6350000"/>
          </a:xfrm>
        </p:grpSpPr>
        <p:sp>
          <p:nvSpPr>
            <p:cNvPr id="24" name="Freeform 24">
              <a:extLst>
                <a:ext uri="{FF2B5EF4-FFF2-40B4-BE49-F238E27FC236}">
                  <a16:creationId xmlns:a16="http://schemas.microsoft.com/office/drawing/2014/main" id="{6F7A22E3-CF4B-498A-B915-2180DE58DEC9}"/>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8"/>
              <a:stretch>
                <a:fillRect t="-31120" b="-31120"/>
              </a:stretch>
            </a:blipFill>
          </p:spPr>
          <p:txBody>
            <a:bodyPr/>
            <a:lstStyle/>
            <a:p>
              <a:endParaRPr lang="en-US"/>
            </a:p>
          </p:txBody>
        </p:sp>
      </p:grpSp>
      <p:grpSp>
        <p:nvGrpSpPr>
          <p:cNvPr id="25" name="Group 25">
            <a:extLst>
              <a:ext uri="{FF2B5EF4-FFF2-40B4-BE49-F238E27FC236}">
                <a16:creationId xmlns:a16="http://schemas.microsoft.com/office/drawing/2014/main" id="{E1124995-D91A-1FAC-7BF3-CE72A6073B52}"/>
              </a:ext>
            </a:extLst>
          </p:cNvPr>
          <p:cNvGrpSpPr/>
          <p:nvPr/>
        </p:nvGrpSpPr>
        <p:grpSpPr>
          <a:xfrm>
            <a:off x="1048764" y="2079956"/>
            <a:ext cx="2580660" cy="6892743"/>
            <a:chOff x="0" y="0"/>
            <a:chExt cx="679680" cy="1815373"/>
          </a:xfrm>
        </p:grpSpPr>
        <p:sp>
          <p:nvSpPr>
            <p:cNvPr id="26" name="Freeform 26">
              <a:extLst>
                <a:ext uri="{FF2B5EF4-FFF2-40B4-BE49-F238E27FC236}">
                  <a16:creationId xmlns:a16="http://schemas.microsoft.com/office/drawing/2014/main" id="{291628CD-5C3B-7A3B-191F-4CE48B3A8D0F}"/>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7" name="TextBox 27">
              <a:extLst>
                <a:ext uri="{FF2B5EF4-FFF2-40B4-BE49-F238E27FC236}">
                  <a16:creationId xmlns:a16="http://schemas.microsoft.com/office/drawing/2014/main" id="{C52D40EA-FE17-7F3E-7BAF-5453E6850D02}"/>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8" name="Group 28">
            <a:extLst>
              <a:ext uri="{FF2B5EF4-FFF2-40B4-BE49-F238E27FC236}">
                <a16:creationId xmlns:a16="http://schemas.microsoft.com/office/drawing/2014/main" id="{005742A9-7354-9996-1D3F-6CB3EAEE565C}"/>
              </a:ext>
            </a:extLst>
          </p:cNvPr>
          <p:cNvGrpSpPr/>
          <p:nvPr/>
        </p:nvGrpSpPr>
        <p:grpSpPr>
          <a:xfrm>
            <a:off x="1084293" y="3873234"/>
            <a:ext cx="2540533" cy="2540533"/>
            <a:chOff x="0" y="0"/>
            <a:chExt cx="6350000" cy="6350000"/>
          </a:xfrm>
        </p:grpSpPr>
        <p:sp>
          <p:nvSpPr>
            <p:cNvPr id="29" name="Freeform 29">
              <a:extLst>
                <a:ext uri="{FF2B5EF4-FFF2-40B4-BE49-F238E27FC236}">
                  <a16:creationId xmlns:a16="http://schemas.microsoft.com/office/drawing/2014/main" id="{4A12FD7C-E213-33C4-4125-14BDE26C3F62}"/>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9"/>
              <a:stretch>
                <a:fillRect t="-16666" b="-16666"/>
              </a:stretch>
            </a:blipFill>
          </p:spPr>
          <p:txBody>
            <a:bodyPr/>
            <a:lstStyle/>
            <a:p>
              <a:endParaRPr lang="en-US"/>
            </a:p>
          </p:txBody>
        </p:sp>
      </p:grpSp>
      <p:grpSp>
        <p:nvGrpSpPr>
          <p:cNvPr id="30" name="Group 30">
            <a:extLst>
              <a:ext uri="{FF2B5EF4-FFF2-40B4-BE49-F238E27FC236}">
                <a16:creationId xmlns:a16="http://schemas.microsoft.com/office/drawing/2014/main" id="{370FE1CE-8673-F1F1-D689-DB9A7722B2FC}"/>
              </a:ext>
            </a:extLst>
          </p:cNvPr>
          <p:cNvGrpSpPr/>
          <p:nvPr/>
        </p:nvGrpSpPr>
        <p:grpSpPr>
          <a:xfrm>
            <a:off x="1060480" y="2079956"/>
            <a:ext cx="2588158" cy="6892743"/>
            <a:chOff x="0" y="0"/>
            <a:chExt cx="3450877" cy="9190325"/>
          </a:xfrm>
        </p:grpSpPr>
        <p:grpSp>
          <p:nvGrpSpPr>
            <p:cNvPr id="31" name="Group 31">
              <a:extLst>
                <a:ext uri="{FF2B5EF4-FFF2-40B4-BE49-F238E27FC236}">
                  <a16:creationId xmlns:a16="http://schemas.microsoft.com/office/drawing/2014/main" id="{ABAE8A59-BA33-4286-1579-5DC5FC2C692D}"/>
                </a:ext>
              </a:extLst>
            </p:cNvPr>
            <p:cNvGrpSpPr/>
            <p:nvPr/>
          </p:nvGrpSpPr>
          <p:grpSpPr>
            <a:xfrm>
              <a:off x="0" y="0"/>
              <a:ext cx="3440880" cy="9190325"/>
              <a:chOff x="0" y="0"/>
              <a:chExt cx="679680" cy="1815373"/>
            </a:xfrm>
          </p:grpSpPr>
          <p:sp>
            <p:nvSpPr>
              <p:cNvPr id="32" name="Freeform 32">
                <a:extLst>
                  <a:ext uri="{FF2B5EF4-FFF2-40B4-BE49-F238E27FC236}">
                    <a16:creationId xmlns:a16="http://schemas.microsoft.com/office/drawing/2014/main" id="{F51E2DDB-EBFF-FDBD-F0E7-608FE7661229}"/>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33" name="TextBox 33">
                <a:extLst>
                  <a:ext uri="{FF2B5EF4-FFF2-40B4-BE49-F238E27FC236}">
                    <a16:creationId xmlns:a16="http://schemas.microsoft.com/office/drawing/2014/main" id="{538BE578-7EC2-098B-4A8A-4A1BBBC72B6F}"/>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34" name="Group 34">
              <a:extLst>
                <a:ext uri="{FF2B5EF4-FFF2-40B4-BE49-F238E27FC236}">
                  <a16:creationId xmlns:a16="http://schemas.microsoft.com/office/drawing/2014/main" id="{358346F1-0745-3E10-361A-49AEFF960BC6}"/>
                </a:ext>
              </a:extLst>
            </p:cNvPr>
            <p:cNvGrpSpPr/>
            <p:nvPr/>
          </p:nvGrpSpPr>
          <p:grpSpPr>
            <a:xfrm>
              <a:off x="63500" y="2391038"/>
              <a:ext cx="3387377" cy="3387377"/>
              <a:chOff x="0" y="0"/>
              <a:chExt cx="6350000" cy="6350000"/>
            </a:xfrm>
          </p:grpSpPr>
          <p:sp>
            <p:nvSpPr>
              <p:cNvPr id="35" name="Freeform 35">
                <a:extLst>
                  <a:ext uri="{FF2B5EF4-FFF2-40B4-BE49-F238E27FC236}">
                    <a16:creationId xmlns:a16="http://schemas.microsoft.com/office/drawing/2014/main" id="{7436D2F9-9F34-5D6D-F4B0-46CE616E2915}"/>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10"/>
                <a:stretch>
                  <a:fillRect l="-38888" r="-38888"/>
                </a:stretch>
              </a:blipFill>
            </p:spPr>
            <p:txBody>
              <a:bodyPr/>
              <a:lstStyle/>
              <a:p>
                <a:endParaRPr lang="en-US"/>
              </a:p>
            </p:txBody>
          </p:sp>
        </p:grpSp>
      </p:grpSp>
      <p:grpSp>
        <p:nvGrpSpPr>
          <p:cNvPr id="36" name="Group 36">
            <a:extLst>
              <a:ext uri="{FF2B5EF4-FFF2-40B4-BE49-F238E27FC236}">
                <a16:creationId xmlns:a16="http://schemas.microsoft.com/office/drawing/2014/main" id="{F05EE64B-C990-AD03-9853-6CF35295C423}"/>
              </a:ext>
            </a:extLst>
          </p:cNvPr>
          <p:cNvGrpSpPr/>
          <p:nvPr/>
        </p:nvGrpSpPr>
        <p:grpSpPr>
          <a:xfrm>
            <a:off x="986904" y="2027684"/>
            <a:ext cx="16272396" cy="6945015"/>
            <a:chOff x="0" y="0"/>
            <a:chExt cx="4285734" cy="1829140"/>
          </a:xfrm>
        </p:grpSpPr>
        <p:sp>
          <p:nvSpPr>
            <p:cNvPr id="37" name="Freeform 37">
              <a:extLst>
                <a:ext uri="{FF2B5EF4-FFF2-40B4-BE49-F238E27FC236}">
                  <a16:creationId xmlns:a16="http://schemas.microsoft.com/office/drawing/2014/main" id="{40BFDEEF-7B8E-43FA-5E1D-E1E38E9D62ED}"/>
                </a:ext>
              </a:extLst>
            </p:cNvPr>
            <p:cNvSpPr/>
            <p:nvPr/>
          </p:nvSpPr>
          <p:spPr>
            <a:xfrm>
              <a:off x="0" y="0"/>
              <a:ext cx="4285734" cy="1829140"/>
            </a:xfrm>
            <a:custGeom>
              <a:avLst/>
              <a:gdLst/>
              <a:ahLst/>
              <a:cxnLst/>
              <a:rect l="l" t="t" r="r" b="b"/>
              <a:pathLst>
                <a:path w="4285734" h="1829140">
                  <a:moveTo>
                    <a:pt x="24264" y="0"/>
                  </a:moveTo>
                  <a:lnTo>
                    <a:pt x="4261470" y="0"/>
                  </a:lnTo>
                  <a:cubicBezTo>
                    <a:pt x="4274871" y="0"/>
                    <a:pt x="4285734" y="10863"/>
                    <a:pt x="4285734" y="24264"/>
                  </a:cubicBezTo>
                  <a:lnTo>
                    <a:pt x="4285734" y="1804875"/>
                  </a:lnTo>
                  <a:cubicBezTo>
                    <a:pt x="4285734" y="1811311"/>
                    <a:pt x="4283178" y="1817482"/>
                    <a:pt x="4278627" y="1822033"/>
                  </a:cubicBezTo>
                  <a:cubicBezTo>
                    <a:pt x="4274077" y="1826583"/>
                    <a:pt x="4267905" y="1829140"/>
                    <a:pt x="4261470" y="1829140"/>
                  </a:cubicBezTo>
                  <a:lnTo>
                    <a:pt x="24264" y="1829140"/>
                  </a:lnTo>
                  <a:cubicBezTo>
                    <a:pt x="10863" y="1829140"/>
                    <a:pt x="0" y="1818276"/>
                    <a:pt x="0" y="1804875"/>
                  </a:cubicBezTo>
                  <a:lnTo>
                    <a:pt x="0" y="24264"/>
                  </a:lnTo>
                  <a:cubicBezTo>
                    <a:pt x="0" y="17829"/>
                    <a:pt x="2556" y="11657"/>
                    <a:pt x="7107" y="7107"/>
                  </a:cubicBezTo>
                  <a:cubicBezTo>
                    <a:pt x="11657" y="2556"/>
                    <a:pt x="17829" y="0"/>
                    <a:pt x="24264" y="0"/>
                  </a:cubicBezTo>
                  <a:close/>
                </a:path>
              </a:pathLst>
            </a:custGeom>
            <a:solidFill>
              <a:srgbClr val="336EA8"/>
            </a:solidFill>
          </p:spPr>
          <p:txBody>
            <a:bodyPr/>
            <a:lstStyle/>
            <a:p>
              <a:endParaRPr lang="en-US"/>
            </a:p>
          </p:txBody>
        </p:sp>
        <p:sp>
          <p:nvSpPr>
            <p:cNvPr id="38" name="TextBox 38">
              <a:extLst>
                <a:ext uri="{FF2B5EF4-FFF2-40B4-BE49-F238E27FC236}">
                  <a16:creationId xmlns:a16="http://schemas.microsoft.com/office/drawing/2014/main" id="{C1BD0A9F-A306-D491-3C5E-23F4641258CF}"/>
                </a:ext>
              </a:extLst>
            </p:cNvPr>
            <p:cNvSpPr txBox="1"/>
            <p:nvPr/>
          </p:nvSpPr>
          <p:spPr>
            <a:xfrm>
              <a:off x="0" y="-38100"/>
              <a:ext cx="4285734" cy="1867240"/>
            </a:xfrm>
            <a:prstGeom prst="rect">
              <a:avLst/>
            </a:prstGeom>
          </p:spPr>
          <p:txBody>
            <a:bodyPr lIns="50800" tIns="50800" rIns="50800" bIns="50800" rtlCol="0" anchor="ctr"/>
            <a:lstStyle/>
            <a:p>
              <a:pPr algn="ctr">
                <a:lnSpc>
                  <a:spcPts val="2879"/>
                </a:lnSpc>
              </a:pPr>
              <a:endParaRPr/>
            </a:p>
          </p:txBody>
        </p:sp>
      </p:grpSp>
      <p:sp>
        <p:nvSpPr>
          <p:cNvPr id="41" name="TextBox 41">
            <a:extLst>
              <a:ext uri="{FF2B5EF4-FFF2-40B4-BE49-F238E27FC236}">
                <a16:creationId xmlns:a16="http://schemas.microsoft.com/office/drawing/2014/main" id="{2C6C7D44-24B6-68A5-3A66-7CB029605BB0}"/>
              </a:ext>
            </a:extLst>
          </p:cNvPr>
          <p:cNvSpPr txBox="1"/>
          <p:nvPr/>
        </p:nvSpPr>
        <p:spPr>
          <a:xfrm>
            <a:off x="4272352" y="3333404"/>
            <a:ext cx="12758348" cy="4513543"/>
          </a:xfrm>
          <a:prstGeom prst="rect">
            <a:avLst/>
          </a:prstGeom>
        </p:spPr>
        <p:txBody>
          <a:bodyPr lIns="0" tIns="0" rIns="0" bIns="0" rtlCol="0" anchor="t">
            <a:spAutoFit/>
          </a:bodyPr>
          <a:lstStyle/>
          <a:p>
            <a:pPr algn="ctr">
              <a:lnSpc>
                <a:spcPts val="3835"/>
              </a:lnSpc>
            </a:pPr>
            <a:r>
              <a:rPr lang="en-US" sz="2739" b="1" dirty="0">
                <a:solidFill>
                  <a:srgbClr val="000000"/>
                </a:solidFill>
                <a:latin typeface="Canva Sans Bold"/>
                <a:ea typeface="Canva Sans Bold"/>
                <a:cs typeface="Canva Sans Bold"/>
                <a:sym typeface="Canva Sans Bold"/>
              </a:rPr>
              <a:t>Introduction</a:t>
            </a:r>
          </a:p>
          <a:p>
            <a:r>
              <a:rPr lang="en-US" sz="2740" b="1" dirty="0"/>
              <a:t>Mohamed Elsayed Mohamed, is a 23-year-old, a Telecommunications &amp; Electronics Engineering student passionate about Data Analytics. Skilled in the full data lifecycle including data cleaning, modeling, and building professional dashboards using Excel and Power BI to turn raw data into actionable insights.</a:t>
            </a:r>
            <a:endParaRPr lang="ar-EG" sz="2740" b="1" dirty="0"/>
          </a:p>
          <a:p>
            <a:pPr algn="ctr"/>
            <a:r>
              <a:rPr lang="en-US" sz="2739" b="1" dirty="0">
                <a:solidFill>
                  <a:srgbClr val="000000"/>
                </a:solidFill>
                <a:latin typeface="Canva Sans Bold"/>
                <a:ea typeface="Canva Sans Bold"/>
                <a:cs typeface="Canva Sans Bold"/>
                <a:sym typeface="Canva Sans Bold"/>
              </a:rPr>
              <a:t>Role</a:t>
            </a:r>
          </a:p>
          <a:p>
            <a:pPr algn="ctr">
              <a:lnSpc>
                <a:spcPts val="3835"/>
              </a:lnSpc>
            </a:pPr>
            <a:r>
              <a:rPr lang="en-US" sz="2739" b="1" dirty="0">
                <a:solidFill>
                  <a:srgbClr val="000000"/>
                </a:solidFill>
                <a:latin typeface="Canva Sans Bold"/>
                <a:ea typeface="Canva Sans Bold"/>
                <a:cs typeface="Canva Sans Bold"/>
                <a:sym typeface="Canva Sans Bold"/>
              </a:rPr>
              <a:t>Data Insights Specialist</a:t>
            </a:r>
          </a:p>
          <a:p>
            <a:pPr algn="l">
              <a:lnSpc>
                <a:spcPts val="3835"/>
              </a:lnSpc>
            </a:pPr>
            <a:r>
              <a:rPr lang="en-US" sz="2739" b="1" dirty="0">
                <a:solidFill>
                  <a:srgbClr val="000000"/>
                </a:solidFill>
                <a:latin typeface="Canva Sans Bold"/>
                <a:ea typeface="Canva Sans Bold"/>
                <a:cs typeface="Canva Sans Bold"/>
                <a:sym typeface="Canva Sans Bold"/>
              </a:rPr>
              <a:t> – Data analysis and insights generation </a:t>
            </a:r>
          </a:p>
          <a:p>
            <a:pPr algn="l">
              <a:lnSpc>
                <a:spcPts val="3835"/>
              </a:lnSpc>
            </a:pPr>
            <a:r>
              <a:rPr lang="en-US" sz="2739" b="1" dirty="0">
                <a:solidFill>
                  <a:srgbClr val="000000"/>
                </a:solidFill>
                <a:latin typeface="Canva Sans Bold"/>
                <a:ea typeface="Canva Sans Bold"/>
                <a:cs typeface="Canva Sans Bold"/>
                <a:sym typeface="Canva Sans Bold"/>
              </a:rPr>
              <a:t> – Supporting the team in extracting and refining final insights </a:t>
            </a:r>
          </a:p>
          <a:p>
            <a:pPr algn="l">
              <a:lnSpc>
                <a:spcPts val="3835"/>
              </a:lnSpc>
            </a:pPr>
            <a:r>
              <a:rPr lang="en-US" sz="2739" b="1" dirty="0">
                <a:solidFill>
                  <a:srgbClr val="000000"/>
                </a:solidFill>
                <a:latin typeface="Canva Sans Bold"/>
                <a:ea typeface="Canva Sans Bold"/>
                <a:cs typeface="Canva Sans Bold"/>
                <a:sym typeface="Canva Sans Bold"/>
              </a:rPr>
              <a:t> – Data analysis using Excel (Pivot Tables + Charts)</a:t>
            </a:r>
          </a:p>
        </p:txBody>
      </p:sp>
      <p:sp>
        <p:nvSpPr>
          <p:cNvPr id="42" name="TextBox 42">
            <a:extLst>
              <a:ext uri="{FF2B5EF4-FFF2-40B4-BE49-F238E27FC236}">
                <a16:creationId xmlns:a16="http://schemas.microsoft.com/office/drawing/2014/main" id="{56D6B13C-FC0F-4E12-F608-1F4BB43A0339}"/>
              </a:ext>
            </a:extLst>
          </p:cNvPr>
          <p:cNvSpPr txBox="1"/>
          <p:nvPr/>
        </p:nvSpPr>
        <p:spPr>
          <a:xfrm>
            <a:off x="6117254" y="2266524"/>
            <a:ext cx="3179146" cy="769570"/>
          </a:xfrm>
          <a:prstGeom prst="rect">
            <a:avLst/>
          </a:prstGeom>
        </p:spPr>
        <p:txBody>
          <a:bodyPr wrap="square" lIns="0" tIns="0" rIns="0" bIns="0" rtlCol="0" anchor="t">
            <a:spAutoFit/>
          </a:bodyPr>
          <a:lstStyle/>
          <a:p>
            <a:pPr algn="ctr">
              <a:lnSpc>
                <a:spcPts val="6860"/>
              </a:lnSpc>
            </a:pPr>
            <a:r>
              <a:rPr lang="en-US" sz="2800" b="1" dirty="0">
                <a:solidFill>
                  <a:srgbClr val="000000"/>
                </a:solidFill>
                <a:latin typeface="Canva Sans Bold"/>
                <a:ea typeface="Canva Sans Bold"/>
                <a:cs typeface="Canva Sans Bold"/>
                <a:sym typeface="Canva Sans Bold"/>
              </a:rPr>
              <a:t>Mohamed Elsayed</a:t>
            </a:r>
          </a:p>
        </p:txBody>
      </p:sp>
      <p:pic>
        <p:nvPicPr>
          <p:cNvPr id="44" name="Picture 43">
            <a:extLst>
              <a:ext uri="{FF2B5EF4-FFF2-40B4-BE49-F238E27FC236}">
                <a16:creationId xmlns:a16="http://schemas.microsoft.com/office/drawing/2014/main" id="{5206F990-17CA-81C3-7002-A8D84F2E8C5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8962442"/>
            <a:ext cx="1324558" cy="1324558"/>
          </a:xfrm>
          <a:prstGeom prst="rect">
            <a:avLst/>
          </a:prstGeom>
        </p:spPr>
      </p:pic>
      <p:pic>
        <p:nvPicPr>
          <p:cNvPr id="5" name="Picture 4">
            <a:extLst>
              <a:ext uri="{FF2B5EF4-FFF2-40B4-BE49-F238E27FC236}">
                <a16:creationId xmlns:a16="http://schemas.microsoft.com/office/drawing/2014/main" id="{FBB29138-364A-C1F5-84D6-D379D8B8AE62}"/>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5944" t="11984" r="17436" b="21395"/>
          <a:stretch>
            <a:fillRect/>
          </a:stretch>
        </p:blipFill>
        <p:spPr>
          <a:xfrm>
            <a:off x="1171736" y="3677376"/>
            <a:ext cx="2826000" cy="2826000"/>
          </a:xfrm>
          <a:prstGeom prst="ellipse">
            <a:avLst/>
          </a:prstGeom>
        </p:spPr>
      </p:pic>
    </p:spTree>
    <p:extLst>
      <p:ext uri="{BB962C8B-B14F-4D97-AF65-F5344CB8AC3E}">
        <p14:creationId xmlns:p14="http://schemas.microsoft.com/office/powerpoint/2010/main" val="917513565"/>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EAD6AF9-557F-E97A-9C22-39F94590C95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279BFB1-0AFC-FA63-C4A4-D13682E30EEC}"/>
              </a:ext>
            </a:extLst>
          </p:cNvPr>
          <p:cNvSpPr/>
          <p:nvPr/>
        </p:nvSpPr>
        <p:spPr>
          <a:xfrm>
            <a:off x="0" y="-1945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a:extLst>
              <a:ext uri="{FF2B5EF4-FFF2-40B4-BE49-F238E27FC236}">
                <a16:creationId xmlns:a16="http://schemas.microsoft.com/office/drawing/2014/main" id="{69FBF7E2-14D9-986D-E54E-FC43554DB5C0}"/>
              </a:ext>
            </a:extLst>
          </p:cNvPr>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a:extLst>
              <a:ext uri="{FF2B5EF4-FFF2-40B4-BE49-F238E27FC236}">
                <a16:creationId xmlns:a16="http://schemas.microsoft.com/office/drawing/2014/main" id="{E8CD51EC-A619-FB53-A8F6-2EB3114F929E}"/>
              </a:ext>
            </a:extLst>
          </p:cNvPr>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a:extLst>
              <a:ext uri="{FF2B5EF4-FFF2-40B4-BE49-F238E27FC236}">
                <a16:creationId xmlns:a16="http://schemas.microsoft.com/office/drawing/2014/main" id="{C3BA7E31-0DF9-5652-429B-04AC94B4CCEF}"/>
              </a:ext>
            </a:extLst>
          </p:cNvPr>
          <p:cNvGrpSpPr/>
          <p:nvPr/>
        </p:nvGrpSpPr>
        <p:grpSpPr>
          <a:xfrm>
            <a:off x="579906" y="1689812"/>
            <a:ext cx="17022707" cy="7568488"/>
            <a:chOff x="0" y="0"/>
            <a:chExt cx="5798675" cy="2578157"/>
          </a:xfrm>
        </p:grpSpPr>
        <p:sp>
          <p:nvSpPr>
            <p:cNvPr id="7" name="Freeform 7">
              <a:extLst>
                <a:ext uri="{FF2B5EF4-FFF2-40B4-BE49-F238E27FC236}">
                  <a16:creationId xmlns:a16="http://schemas.microsoft.com/office/drawing/2014/main" id="{991D787E-13B3-2613-1640-A3D0217333C8}"/>
                </a:ext>
              </a:extLst>
            </p:cNvPr>
            <p:cNvSpPr/>
            <p:nvPr/>
          </p:nvSpPr>
          <p:spPr>
            <a:xfrm>
              <a:off x="0" y="0"/>
              <a:ext cx="5798676" cy="2578157"/>
            </a:xfrm>
            <a:custGeom>
              <a:avLst/>
              <a:gdLst/>
              <a:ahLst/>
              <a:cxnLst/>
              <a:rect l="l" t="t" r="r" b="b"/>
              <a:pathLst>
                <a:path w="5798676" h="2578157">
                  <a:moveTo>
                    <a:pt x="23195" y="0"/>
                  </a:moveTo>
                  <a:lnTo>
                    <a:pt x="5775481" y="0"/>
                  </a:lnTo>
                  <a:cubicBezTo>
                    <a:pt x="5781632" y="0"/>
                    <a:pt x="5787532" y="2444"/>
                    <a:pt x="5791882" y="6794"/>
                  </a:cubicBezTo>
                  <a:cubicBezTo>
                    <a:pt x="5796232" y="11143"/>
                    <a:pt x="5798676" y="17043"/>
                    <a:pt x="5798676" y="23195"/>
                  </a:cubicBezTo>
                  <a:lnTo>
                    <a:pt x="5798676" y="2554962"/>
                  </a:lnTo>
                  <a:cubicBezTo>
                    <a:pt x="5798676" y="2561113"/>
                    <a:pt x="5796232" y="2567013"/>
                    <a:pt x="5791882" y="2571363"/>
                  </a:cubicBezTo>
                  <a:cubicBezTo>
                    <a:pt x="5787532" y="2575713"/>
                    <a:pt x="5781632" y="2578157"/>
                    <a:pt x="5775481" y="2578157"/>
                  </a:cubicBezTo>
                  <a:lnTo>
                    <a:pt x="23195" y="2578157"/>
                  </a:lnTo>
                  <a:cubicBezTo>
                    <a:pt x="17043" y="2578157"/>
                    <a:pt x="11143" y="2575713"/>
                    <a:pt x="6794" y="2571363"/>
                  </a:cubicBezTo>
                  <a:cubicBezTo>
                    <a:pt x="2444" y="2567013"/>
                    <a:pt x="0" y="2561113"/>
                    <a:pt x="0" y="2554962"/>
                  </a:cubicBezTo>
                  <a:lnTo>
                    <a:pt x="0" y="23195"/>
                  </a:lnTo>
                  <a:cubicBezTo>
                    <a:pt x="0" y="17043"/>
                    <a:pt x="2444" y="11143"/>
                    <a:pt x="6794" y="6794"/>
                  </a:cubicBezTo>
                  <a:cubicBezTo>
                    <a:pt x="11143" y="2444"/>
                    <a:pt x="17043" y="0"/>
                    <a:pt x="23195" y="0"/>
                  </a:cubicBezTo>
                  <a:close/>
                </a:path>
              </a:pathLst>
            </a:custGeom>
            <a:solidFill>
              <a:srgbClr val="84E4A8"/>
            </a:solidFill>
          </p:spPr>
          <p:txBody>
            <a:bodyPr/>
            <a:lstStyle/>
            <a:p>
              <a:endParaRPr lang="en-US"/>
            </a:p>
          </p:txBody>
        </p:sp>
        <p:sp>
          <p:nvSpPr>
            <p:cNvPr id="8" name="TextBox 8">
              <a:extLst>
                <a:ext uri="{FF2B5EF4-FFF2-40B4-BE49-F238E27FC236}">
                  <a16:creationId xmlns:a16="http://schemas.microsoft.com/office/drawing/2014/main" id="{871D26A3-3E9C-092C-E69F-C922E05A6F85}"/>
                </a:ext>
              </a:extLst>
            </p:cNvPr>
            <p:cNvSpPr txBox="1"/>
            <p:nvPr/>
          </p:nvSpPr>
          <p:spPr>
            <a:xfrm>
              <a:off x="0" y="-38100"/>
              <a:ext cx="5798675" cy="2616257"/>
            </a:xfrm>
            <a:prstGeom prst="rect">
              <a:avLst/>
            </a:prstGeom>
          </p:spPr>
          <p:txBody>
            <a:bodyPr lIns="39277" tIns="39277" rIns="39277" bIns="39277" rtlCol="0" anchor="ctr"/>
            <a:lstStyle/>
            <a:p>
              <a:pPr algn="ctr">
                <a:lnSpc>
                  <a:spcPts val="2879"/>
                </a:lnSpc>
              </a:pPr>
              <a:endParaRPr/>
            </a:p>
          </p:txBody>
        </p:sp>
      </p:grpSp>
      <p:grpSp>
        <p:nvGrpSpPr>
          <p:cNvPr id="9" name="Group 9">
            <a:extLst>
              <a:ext uri="{FF2B5EF4-FFF2-40B4-BE49-F238E27FC236}">
                <a16:creationId xmlns:a16="http://schemas.microsoft.com/office/drawing/2014/main" id="{0F5C563B-26EC-0B7F-08C2-4B0E8E51DD7B}"/>
              </a:ext>
            </a:extLst>
          </p:cNvPr>
          <p:cNvGrpSpPr/>
          <p:nvPr/>
        </p:nvGrpSpPr>
        <p:grpSpPr>
          <a:xfrm>
            <a:off x="1028700" y="2079956"/>
            <a:ext cx="2580660" cy="6892743"/>
            <a:chOff x="0" y="0"/>
            <a:chExt cx="679680" cy="1815373"/>
          </a:xfrm>
        </p:grpSpPr>
        <p:sp>
          <p:nvSpPr>
            <p:cNvPr id="10" name="Freeform 10">
              <a:extLst>
                <a:ext uri="{FF2B5EF4-FFF2-40B4-BE49-F238E27FC236}">
                  <a16:creationId xmlns:a16="http://schemas.microsoft.com/office/drawing/2014/main" id="{B6395D43-CA52-EE36-91EE-3B3010A8E71E}"/>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1" name="TextBox 11">
              <a:extLst>
                <a:ext uri="{FF2B5EF4-FFF2-40B4-BE49-F238E27FC236}">
                  <a16:creationId xmlns:a16="http://schemas.microsoft.com/office/drawing/2014/main" id="{EE4A6BEE-D924-40C7-DDC4-E73D1611B29E}"/>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2" name="Group 12">
            <a:extLst>
              <a:ext uri="{FF2B5EF4-FFF2-40B4-BE49-F238E27FC236}">
                <a16:creationId xmlns:a16="http://schemas.microsoft.com/office/drawing/2014/main" id="{C1608BEF-E19B-D765-3900-303E23371D4E}"/>
              </a:ext>
            </a:extLst>
          </p:cNvPr>
          <p:cNvGrpSpPr/>
          <p:nvPr/>
        </p:nvGrpSpPr>
        <p:grpSpPr>
          <a:xfrm>
            <a:off x="1048764" y="3873234"/>
            <a:ext cx="2540533" cy="2540533"/>
            <a:chOff x="0" y="0"/>
            <a:chExt cx="6350000" cy="6350000"/>
          </a:xfrm>
        </p:grpSpPr>
        <p:sp>
          <p:nvSpPr>
            <p:cNvPr id="13" name="Freeform 13">
              <a:extLst>
                <a:ext uri="{FF2B5EF4-FFF2-40B4-BE49-F238E27FC236}">
                  <a16:creationId xmlns:a16="http://schemas.microsoft.com/office/drawing/2014/main" id="{2DDC857B-5ABA-2D49-0198-6B5B7AD81991}"/>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t="-25000" b="-25000"/>
              </a:stretch>
            </a:blipFill>
          </p:spPr>
          <p:txBody>
            <a:bodyPr/>
            <a:lstStyle/>
            <a:p>
              <a:endParaRPr lang="en-US"/>
            </a:p>
          </p:txBody>
        </p:sp>
      </p:grpSp>
      <p:sp>
        <p:nvSpPr>
          <p:cNvPr id="14" name="TextBox 14">
            <a:extLst>
              <a:ext uri="{FF2B5EF4-FFF2-40B4-BE49-F238E27FC236}">
                <a16:creationId xmlns:a16="http://schemas.microsoft.com/office/drawing/2014/main" id="{74C1B30B-8B36-5938-B823-182DE040B24C}"/>
              </a:ext>
            </a:extLst>
          </p:cNvPr>
          <p:cNvSpPr txBox="1"/>
          <p:nvPr/>
        </p:nvSpPr>
        <p:spPr>
          <a:xfrm>
            <a:off x="5402536" y="681423"/>
            <a:ext cx="7377446" cy="770535"/>
          </a:xfrm>
          <a:prstGeom prst="rect">
            <a:avLst/>
          </a:prstGeom>
        </p:spPr>
        <p:txBody>
          <a:bodyPr lIns="0" tIns="0" rIns="0" bIns="0" rtlCol="0" anchor="t">
            <a:spAutoFit/>
          </a:bodyPr>
          <a:lstStyle/>
          <a:p>
            <a:pPr algn="ctr">
              <a:lnSpc>
                <a:spcPts val="6354"/>
              </a:lnSpc>
            </a:pPr>
            <a:r>
              <a:rPr lang="en-US" sz="4538" b="1">
                <a:solidFill>
                  <a:srgbClr val="336EA8"/>
                </a:solidFill>
                <a:latin typeface="Canva Sans Bold"/>
                <a:ea typeface="Canva Sans Bold"/>
                <a:cs typeface="Canva Sans Bold"/>
                <a:sym typeface="Canva Sans Bold"/>
              </a:rPr>
              <a:t>Project Team + Roles</a:t>
            </a:r>
          </a:p>
        </p:txBody>
      </p:sp>
      <p:grpSp>
        <p:nvGrpSpPr>
          <p:cNvPr id="15" name="Group 15">
            <a:extLst>
              <a:ext uri="{FF2B5EF4-FFF2-40B4-BE49-F238E27FC236}">
                <a16:creationId xmlns:a16="http://schemas.microsoft.com/office/drawing/2014/main" id="{407F35D1-85D0-E970-FB7C-32075E1DA95D}"/>
              </a:ext>
            </a:extLst>
          </p:cNvPr>
          <p:cNvGrpSpPr/>
          <p:nvPr/>
        </p:nvGrpSpPr>
        <p:grpSpPr>
          <a:xfrm>
            <a:off x="1048764" y="2027684"/>
            <a:ext cx="2580660" cy="6892743"/>
            <a:chOff x="0" y="0"/>
            <a:chExt cx="679680" cy="1815373"/>
          </a:xfrm>
        </p:grpSpPr>
        <p:sp>
          <p:nvSpPr>
            <p:cNvPr id="16" name="Freeform 16">
              <a:extLst>
                <a:ext uri="{FF2B5EF4-FFF2-40B4-BE49-F238E27FC236}">
                  <a16:creationId xmlns:a16="http://schemas.microsoft.com/office/drawing/2014/main" id="{739DFD45-AE8F-B4CA-167B-36D9B758BA5F}"/>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7" name="TextBox 17">
              <a:extLst>
                <a:ext uri="{FF2B5EF4-FFF2-40B4-BE49-F238E27FC236}">
                  <a16:creationId xmlns:a16="http://schemas.microsoft.com/office/drawing/2014/main" id="{F31D8E1E-4ED7-14B8-EF2E-EE06B9656CE2}"/>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8" name="Group 18">
            <a:extLst>
              <a:ext uri="{FF2B5EF4-FFF2-40B4-BE49-F238E27FC236}">
                <a16:creationId xmlns:a16="http://schemas.microsoft.com/office/drawing/2014/main" id="{BB4AEA3A-F04E-6E19-44F5-04E5B51BDAEB}"/>
              </a:ext>
            </a:extLst>
          </p:cNvPr>
          <p:cNvGrpSpPr/>
          <p:nvPr/>
        </p:nvGrpSpPr>
        <p:grpSpPr>
          <a:xfrm>
            <a:off x="1027031" y="3873234"/>
            <a:ext cx="2540533" cy="2540533"/>
            <a:chOff x="0" y="0"/>
            <a:chExt cx="6350000" cy="6350000"/>
          </a:xfrm>
        </p:grpSpPr>
        <p:sp>
          <p:nvSpPr>
            <p:cNvPr id="19" name="Freeform 19">
              <a:extLst>
                <a:ext uri="{FF2B5EF4-FFF2-40B4-BE49-F238E27FC236}">
                  <a16:creationId xmlns:a16="http://schemas.microsoft.com/office/drawing/2014/main" id="{D5586534-8530-6C9F-9C02-A4AFCD482343}"/>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7"/>
              <a:stretch>
                <a:fillRect t="-16747" b="-16747"/>
              </a:stretch>
            </a:blipFill>
          </p:spPr>
          <p:txBody>
            <a:bodyPr/>
            <a:lstStyle/>
            <a:p>
              <a:endParaRPr lang="en-US"/>
            </a:p>
          </p:txBody>
        </p:sp>
      </p:grpSp>
      <p:grpSp>
        <p:nvGrpSpPr>
          <p:cNvPr id="20" name="Group 20">
            <a:extLst>
              <a:ext uri="{FF2B5EF4-FFF2-40B4-BE49-F238E27FC236}">
                <a16:creationId xmlns:a16="http://schemas.microsoft.com/office/drawing/2014/main" id="{D8BBE2A9-5A61-CEA3-B4C8-ADE10EEBD8CA}"/>
              </a:ext>
            </a:extLst>
          </p:cNvPr>
          <p:cNvGrpSpPr/>
          <p:nvPr/>
        </p:nvGrpSpPr>
        <p:grpSpPr>
          <a:xfrm>
            <a:off x="1084293" y="2027684"/>
            <a:ext cx="2580660" cy="6892743"/>
            <a:chOff x="0" y="0"/>
            <a:chExt cx="679680" cy="1815373"/>
          </a:xfrm>
        </p:grpSpPr>
        <p:sp>
          <p:nvSpPr>
            <p:cNvPr id="21" name="Freeform 21">
              <a:extLst>
                <a:ext uri="{FF2B5EF4-FFF2-40B4-BE49-F238E27FC236}">
                  <a16:creationId xmlns:a16="http://schemas.microsoft.com/office/drawing/2014/main" id="{980E30C9-6E54-F1A6-C44F-1DFB99081277}"/>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2" name="TextBox 22">
              <a:extLst>
                <a:ext uri="{FF2B5EF4-FFF2-40B4-BE49-F238E27FC236}">
                  <a16:creationId xmlns:a16="http://schemas.microsoft.com/office/drawing/2014/main" id="{64993BF6-20AB-E16E-DBBD-C62CE7B74245}"/>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3" name="Group 23">
            <a:extLst>
              <a:ext uri="{FF2B5EF4-FFF2-40B4-BE49-F238E27FC236}">
                <a16:creationId xmlns:a16="http://schemas.microsoft.com/office/drawing/2014/main" id="{595603FF-30F5-7824-1C54-BCB142F91BDD}"/>
              </a:ext>
            </a:extLst>
          </p:cNvPr>
          <p:cNvGrpSpPr/>
          <p:nvPr/>
        </p:nvGrpSpPr>
        <p:grpSpPr>
          <a:xfrm>
            <a:off x="1124421" y="3873234"/>
            <a:ext cx="2540533" cy="2540533"/>
            <a:chOff x="0" y="0"/>
            <a:chExt cx="6350000" cy="6350000"/>
          </a:xfrm>
        </p:grpSpPr>
        <p:sp>
          <p:nvSpPr>
            <p:cNvPr id="24" name="Freeform 24">
              <a:extLst>
                <a:ext uri="{FF2B5EF4-FFF2-40B4-BE49-F238E27FC236}">
                  <a16:creationId xmlns:a16="http://schemas.microsoft.com/office/drawing/2014/main" id="{D5812EEA-C631-54FE-83D2-3C731EA2F5D3}"/>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8"/>
              <a:stretch>
                <a:fillRect t="-31120" b="-31120"/>
              </a:stretch>
            </a:blipFill>
          </p:spPr>
          <p:txBody>
            <a:bodyPr/>
            <a:lstStyle/>
            <a:p>
              <a:endParaRPr lang="en-US"/>
            </a:p>
          </p:txBody>
        </p:sp>
      </p:grpSp>
      <p:grpSp>
        <p:nvGrpSpPr>
          <p:cNvPr id="25" name="Group 25">
            <a:extLst>
              <a:ext uri="{FF2B5EF4-FFF2-40B4-BE49-F238E27FC236}">
                <a16:creationId xmlns:a16="http://schemas.microsoft.com/office/drawing/2014/main" id="{5208783B-D565-E0A4-1E93-0F0D7A3AB878}"/>
              </a:ext>
            </a:extLst>
          </p:cNvPr>
          <p:cNvGrpSpPr/>
          <p:nvPr/>
        </p:nvGrpSpPr>
        <p:grpSpPr>
          <a:xfrm>
            <a:off x="1048764" y="2079956"/>
            <a:ext cx="2580660" cy="6892743"/>
            <a:chOff x="0" y="0"/>
            <a:chExt cx="679680" cy="1815373"/>
          </a:xfrm>
        </p:grpSpPr>
        <p:sp>
          <p:nvSpPr>
            <p:cNvPr id="26" name="Freeform 26">
              <a:extLst>
                <a:ext uri="{FF2B5EF4-FFF2-40B4-BE49-F238E27FC236}">
                  <a16:creationId xmlns:a16="http://schemas.microsoft.com/office/drawing/2014/main" id="{F06A0C67-7FBF-8DA3-46EE-9306C15FF4A9}"/>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7" name="TextBox 27">
              <a:extLst>
                <a:ext uri="{FF2B5EF4-FFF2-40B4-BE49-F238E27FC236}">
                  <a16:creationId xmlns:a16="http://schemas.microsoft.com/office/drawing/2014/main" id="{5F49C7CE-648C-0FCB-3B44-B3E7FF2837E9}"/>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8" name="Group 28">
            <a:extLst>
              <a:ext uri="{FF2B5EF4-FFF2-40B4-BE49-F238E27FC236}">
                <a16:creationId xmlns:a16="http://schemas.microsoft.com/office/drawing/2014/main" id="{1F9F975A-1BB7-E567-3FC5-BA024CAAD5CD}"/>
              </a:ext>
            </a:extLst>
          </p:cNvPr>
          <p:cNvGrpSpPr/>
          <p:nvPr/>
        </p:nvGrpSpPr>
        <p:grpSpPr>
          <a:xfrm>
            <a:off x="1084293" y="3873234"/>
            <a:ext cx="2540533" cy="2540533"/>
            <a:chOff x="0" y="0"/>
            <a:chExt cx="6350000" cy="6350000"/>
          </a:xfrm>
        </p:grpSpPr>
        <p:sp>
          <p:nvSpPr>
            <p:cNvPr id="29" name="Freeform 29">
              <a:extLst>
                <a:ext uri="{FF2B5EF4-FFF2-40B4-BE49-F238E27FC236}">
                  <a16:creationId xmlns:a16="http://schemas.microsoft.com/office/drawing/2014/main" id="{F5BE1771-3F66-E6DE-4AEC-3E867E0B7CC0}"/>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9"/>
              <a:stretch>
                <a:fillRect t="-16666" b="-16666"/>
              </a:stretch>
            </a:blipFill>
          </p:spPr>
          <p:txBody>
            <a:bodyPr/>
            <a:lstStyle/>
            <a:p>
              <a:endParaRPr lang="en-US"/>
            </a:p>
          </p:txBody>
        </p:sp>
      </p:grpSp>
      <p:grpSp>
        <p:nvGrpSpPr>
          <p:cNvPr id="30" name="Group 30">
            <a:extLst>
              <a:ext uri="{FF2B5EF4-FFF2-40B4-BE49-F238E27FC236}">
                <a16:creationId xmlns:a16="http://schemas.microsoft.com/office/drawing/2014/main" id="{0319ABD4-BAC9-2043-45EA-FB7C106DE8BF}"/>
              </a:ext>
            </a:extLst>
          </p:cNvPr>
          <p:cNvGrpSpPr/>
          <p:nvPr/>
        </p:nvGrpSpPr>
        <p:grpSpPr>
          <a:xfrm>
            <a:off x="1060480" y="2079956"/>
            <a:ext cx="2588158" cy="6892743"/>
            <a:chOff x="0" y="0"/>
            <a:chExt cx="3450877" cy="9190325"/>
          </a:xfrm>
        </p:grpSpPr>
        <p:grpSp>
          <p:nvGrpSpPr>
            <p:cNvPr id="31" name="Group 31">
              <a:extLst>
                <a:ext uri="{FF2B5EF4-FFF2-40B4-BE49-F238E27FC236}">
                  <a16:creationId xmlns:a16="http://schemas.microsoft.com/office/drawing/2014/main" id="{7B32DFBA-042C-1780-4FC3-8A8E291D5EFC}"/>
                </a:ext>
              </a:extLst>
            </p:cNvPr>
            <p:cNvGrpSpPr/>
            <p:nvPr/>
          </p:nvGrpSpPr>
          <p:grpSpPr>
            <a:xfrm>
              <a:off x="0" y="0"/>
              <a:ext cx="3440880" cy="9190325"/>
              <a:chOff x="0" y="0"/>
              <a:chExt cx="679680" cy="1815373"/>
            </a:xfrm>
          </p:grpSpPr>
          <p:sp>
            <p:nvSpPr>
              <p:cNvPr id="32" name="Freeform 32">
                <a:extLst>
                  <a:ext uri="{FF2B5EF4-FFF2-40B4-BE49-F238E27FC236}">
                    <a16:creationId xmlns:a16="http://schemas.microsoft.com/office/drawing/2014/main" id="{2B8FF927-3145-98DA-465B-84517FCBE800}"/>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33" name="TextBox 33">
                <a:extLst>
                  <a:ext uri="{FF2B5EF4-FFF2-40B4-BE49-F238E27FC236}">
                    <a16:creationId xmlns:a16="http://schemas.microsoft.com/office/drawing/2014/main" id="{1CF5711C-D3D2-6DFB-F785-CA2154A41883}"/>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34" name="Group 34">
              <a:extLst>
                <a:ext uri="{FF2B5EF4-FFF2-40B4-BE49-F238E27FC236}">
                  <a16:creationId xmlns:a16="http://schemas.microsoft.com/office/drawing/2014/main" id="{C527B79B-08D7-6A13-18F2-A5856924D6FE}"/>
                </a:ext>
              </a:extLst>
            </p:cNvPr>
            <p:cNvGrpSpPr/>
            <p:nvPr/>
          </p:nvGrpSpPr>
          <p:grpSpPr>
            <a:xfrm>
              <a:off x="63500" y="2391038"/>
              <a:ext cx="3387377" cy="3387377"/>
              <a:chOff x="0" y="0"/>
              <a:chExt cx="6350000" cy="6350000"/>
            </a:xfrm>
          </p:grpSpPr>
          <p:sp>
            <p:nvSpPr>
              <p:cNvPr id="35" name="Freeform 35">
                <a:extLst>
                  <a:ext uri="{FF2B5EF4-FFF2-40B4-BE49-F238E27FC236}">
                    <a16:creationId xmlns:a16="http://schemas.microsoft.com/office/drawing/2014/main" id="{5C4FA9B3-1375-9A2D-3979-40883DDAE256}"/>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10"/>
                <a:stretch>
                  <a:fillRect l="-38888" r="-38888"/>
                </a:stretch>
              </a:blipFill>
            </p:spPr>
            <p:txBody>
              <a:bodyPr/>
              <a:lstStyle/>
              <a:p>
                <a:endParaRPr lang="en-US"/>
              </a:p>
            </p:txBody>
          </p:sp>
        </p:grpSp>
      </p:grpSp>
      <p:grpSp>
        <p:nvGrpSpPr>
          <p:cNvPr id="36" name="Group 36">
            <a:extLst>
              <a:ext uri="{FF2B5EF4-FFF2-40B4-BE49-F238E27FC236}">
                <a16:creationId xmlns:a16="http://schemas.microsoft.com/office/drawing/2014/main" id="{2AD7E55D-8B4A-B5F8-C314-D4D9FFB6DB16}"/>
              </a:ext>
            </a:extLst>
          </p:cNvPr>
          <p:cNvGrpSpPr/>
          <p:nvPr/>
        </p:nvGrpSpPr>
        <p:grpSpPr>
          <a:xfrm>
            <a:off x="986904" y="2027684"/>
            <a:ext cx="16272396" cy="6945015"/>
            <a:chOff x="0" y="0"/>
            <a:chExt cx="4285734" cy="1829140"/>
          </a:xfrm>
        </p:grpSpPr>
        <p:sp>
          <p:nvSpPr>
            <p:cNvPr id="37" name="Freeform 37">
              <a:extLst>
                <a:ext uri="{FF2B5EF4-FFF2-40B4-BE49-F238E27FC236}">
                  <a16:creationId xmlns:a16="http://schemas.microsoft.com/office/drawing/2014/main" id="{1DC264D3-BF6D-FE73-7F7F-2F1ACB8391CF}"/>
                </a:ext>
              </a:extLst>
            </p:cNvPr>
            <p:cNvSpPr/>
            <p:nvPr/>
          </p:nvSpPr>
          <p:spPr>
            <a:xfrm>
              <a:off x="0" y="0"/>
              <a:ext cx="4285734" cy="1829140"/>
            </a:xfrm>
            <a:custGeom>
              <a:avLst/>
              <a:gdLst/>
              <a:ahLst/>
              <a:cxnLst/>
              <a:rect l="l" t="t" r="r" b="b"/>
              <a:pathLst>
                <a:path w="4285734" h="1829140">
                  <a:moveTo>
                    <a:pt x="24264" y="0"/>
                  </a:moveTo>
                  <a:lnTo>
                    <a:pt x="4261470" y="0"/>
                  </a:lnTo>
                  <a:cubicBezTo>
                    <a:pt x="4274871" y="0"/>
                    <a:pt x="4285734" y="10863"/>
                    <a:pt x="4285734" y="24264"/>
                  </a:cubicBezTo>
                  <a:lnTo>
                    <a:pt x="4285734" y="1804875"/>
                  </a:lnTo>
                  <a:cubicBezTo>
                    <a:pt x="4285734" y="1811311"/>
                    <a:pt x="4283178" y="1817482"/>
                    <a:pt x="4278627" y="1822033"/>
                  </a:cubicBezTo>
                  <a:cubicBezTo>
                    <a:pt x="4274077" y="1826583"/>
                    <a:pt x="4267905" y="1829140"/>
                    <a:pt x="4261470" y="1829140"/>
                  </a:cubicBezTo>
                  <a:lnTo>
                    <a:pt x="24264" y="1829140"/>
                  </a:lnTo>
                  <a:cubicBezTo>
                    <a:pt x="10863" y="1829140"/>
                    <a:pt x="0" y="1818276"/>
                    <a:pt x="0" y="1804875"/>
                  </a:cubicBezTo>
                  <a:lnTo>
                    <a:pt x="0" y="24264"/>
                  </a:lnTo>
                  <a:cubicBezTo>
                    <a:pt x="0" y="17829"/>
                    <a:pt x="2556" y="11657"/>
                    <a:pt x="7107" y="7107"/>
                  </a:cubicBezTo>
                  <a:cubicBezTo>
                    <a:pt x="11657" y="2556"/>
                    <a:pt x="17829" y="0"/>
                    <a:pt x="24264" y="0"/>
                  </a:cubicBezTo>
                  <a:close/>
                </a:path>
              </a:pathLst>
            </a:custGeom>
            <a:solidFill>
              <a:srgbClr val="336EA8"/>
            </a:solidFill>
          </p:spPr>
          <p:txBody>
            <a:bodyPr/>
            <a:lstStyle/>
            <a:p>
              <a:endParaRPr lang="en-US"/>
            </a:p>
          </p:txBody>
        </p:sp>
        <p:sp>
          <p:nvSpPr>
            <p:cNvPr id="38" name="TextBox 38">
              <a:extLst>
                <a:ext uri="{FF2B5EF4-FFF2-40B4-BE49-F238E27FC236}">
                  <a16:creationId xmlns:a16="http://schemas.microsoft.com/office/drawing/2014/main" id="{D5A15BA4-40A9-651B-80E7-E811ABAEAD90}"/>
                </a:ext>
              </a:extLst>
            </p:cNvPr>
            <p:cNvSpPr txBox="1"/>
            <p:nvPr/>
          </p:nvSpPr>
          <p:spPr>
            <a:xfrm>
              <a:off x="0" y="-38100"/>
              <a:ext cx="4285734" cy="1867240"/>
            </a:xfrm>
            <a:prstGeom prst="rect">
              <a:avLst/>
            </a:prstGeom>
          </p:spPr>
          <p:txBody>
            <a:bodyPr lIns="50800" tIns="50800" rIns="50800" bIns="50800" rtlCol="0" anchor="ctr"/>
            <a:lstStyle/>
            <a:p>
              <a:pPr algn="ctr">
                <a:lnSpc>
                  <a:spcPts val="2879"/>
                </a:lnSpc>
              </a:pPr>
              <a:endParaRPr/>
            </a:p>
          </p:txBody>
        </p:sp>
      </p:grpSp>
      <p:sp>
        <p:nvSpPr>
          <p:cNvPr id="41" name="TextBox 41">
            <a:extLst>
              <a:ext uri="{FF2B5EF4-FFF2-40B4-BE49-F238E27FC236}">
                <a16:creationId xmlns:a16="http://schemas.microsoft.com/office/drawing/2014/main" id="{CA9EB78A-33F2-4247-13C2-4DA234B6899C}"/>
              </a:ext>
            </a:extLst>
          </p:cNvPr>
          <p:cNvSpPr txBox="1"/>
          <p:nvPr/>
        </p:nvSpPr>
        <p:spPr>
          <a:xfrm>
            <a:off x="4272352" y="3333404"/>
            <a:ext cx="12758348" cy="5329279"/>
          </a:xfrm>
          <a:prstGeom prst="rect">
            <a:avLst/>
          </a:prstGeom>
        </p:spPr>
        <p:txBody>
          <a:bodyPr lIns="0" tIns="0" rIns="0" bIns="0" rtlCol="0" anchor="t">
            <a:spAutoFit/>
          </a:bodyPr>
          <a:lstStyle/>
          <a:p>
            <a:pPr algn="ctr">
              <a:lnSpc>
                <a:spcPts val="3835"/>
              </a:lnSpc>
            </a:pPr>
            <a:r>
              <a:rPr lang="en-US" sz="2739" b="1" dirty="0">
                <a:solidFill>
                  <a:srgbClr val="000000"/>
                </a:solidFill>
                <a:latin typeface="Canva Sans Bold"/>
                <a:ea typeface="Canva Sans Bold"/>
                <a:cs typeface="Canva Sans Bold"/>
                <a:sym typeface="Canva Sans Bold"/>
              </a:rPr>
              <a:t>Introduction</a:t>
            </a:r>
          </a:p>
          <a:p>
            <a:pPr>
              <a:lnSpc>
                <a:spcPts val="3835"/>
              </a:lnSpc>
            </a:pPr>
            <a:r>
              <a:rPr lang="en-US" sz="2739" b="1" dirty="0">
                <a:solidFill>
                  <a:srgbClr val="000000"/>
                </a:solidFill>
                <a:latin typeface="Canva Sans Bold"/>
                <a:ea typeface="Canva Sans Bold"/>
                <a:cs typeface="Canva Sans Bold"/>
                <a:sym typeface="Canva Sans Bold"/>
              </a:rPr>
              <a:t>Farah Magdy A 19 years old student at Cairo University and Georgia State University joint program. Specializing in Data Analysis and Marketing, I am passionate about transforming raw data into actionable business insights and creative branding strategies. I am dedicated to continuous technical growth and professional excellence.</a:t>
            </a:r>
            <a:r>
              <a:rPr lang="ar-EG" sz="2739" b="1" dirty="0">
                <a:solidFill>
                  <a:srgbClr val="000000"/>
                </a:solidFill>
                <a:latin typeface="Canva Sans Bold"/>
                <a:ea typeface="Canva Sans Bold"/>
                <a:cs typeface="Canva Sans Bold"/>
                <a:sym typeface="Canva Sans Bold"/>
              </a:rPr>
              <a:t> </a:t>
            </a:r>
          </a:p>
          <a:p>
            <a:pPr>
              <a:lnSpc>
                <a:spcPts val="3835"/>
              </a:lnSpc>
            </a:pPr>
            <a:r>
              <a:rPr lang="ar-EG" sz="2739" b="1" dirty="0">
                <a:solidFill>
                  <a:srgbClr val="000000"/>
                </a:solidFill>
                <a:latin typeface="Canva Sans Bold"/>
                <a:ea typeface="Canva Sans Bold"/>
                <a:cs typeface="Canva Sans Bold"/>
                <a:sym typeface="Canva Sans Bold"/>
              </a:rPr>
              <a:t>						</a:t>
            </a:r>
            <a:r>
              <a:rPr lang="en-US" sz="2739" b="1" dirty="0">
                <a:solidFill>
                  <a:srgbClr val="000000"/>
                </a:solidFill>
                <a:latin typeface="Canva Sans Bold"/>
                <a:ea typeface="Canva Sans Bold"/>
                <a:cs typeface="Canva Sans Bold"/>
                <a:sym typeface="Canva Sans Bold"/>
              </a:rPr>
              <a:t>Role</a:t>
            </a:r>
          </a:p>
          <a:p>
            <a:pPr algn="ctr">
              <a:lnSpc>
                <a:spcPts val="3835"/>
              </a:lnSpc>
            </a:pPr>
            <a:r>
              <a:rPr lang="en-US" sz="2739" b="1" dirty="0">
                <a:solidFill>
                  <a:srgbClr val="000000"/>
                </a:solidFill>
                <a:latin typeface="Canva Sans Bold"/>
                <a:ea typeface="Canva Sans Bold"/>
                <a:cs typeface="Canva Sans Bold"/>
                <a:sym typeface="Canva Sans Bold"/>
              </a:rPr>
              <a:t>Data Insights Specialist</a:t>
            </a:r>
          </a:p>
          <a:p>
            <a:pPr algn="l">
              <a:lnSpc>
                <a:spcPts val="3835"/>
              </a:lnSpc>
            </a:pPr>
            <a:r>
              <a:rPr lang="en-US" sz="2739" b="1" dirty="0">
                <a:solidFill>
                  <a:srgbClr val="000000"/>
                </a:solidFill>
                <a:latin typeface="Canva Sans Bold"/>
                <a:ea typeface="Canva Sans Bold"/>
                <a:cs typeface="Canva Sans Bold"/>
                <a:sym typeface="Canva Sans Bold"/>
              </a:rPr>
              <a:t> – Data analysis and insights generation </a:t>
            </a:r>
          </a:p>
          <a:p>
            <a:pPr algn="l">
              <a:lnSpc>
                <a:spcPts val="3835"/>
              </a:lnSpc>
            </a:pPr>
            <a:r>
              <a:rPr lang="en-US" sz="2739" b="1" dirty="0">
                <a:solidFill>
                  <a:srgbClr val="000000"/>
                </a:solidFill>
                <a:latin typeface="Canva Sans Bold"/>
                <a:ea typeface="Canva Sans Bold"/>
                <a:cs typeface="Canva Sans Bold"/>
                <a:sym typeface="Canva Sans Bold"/>
              </a:rPr>
              <a:t> – Supporting the team in extracting and refining final insights </a:t>
            </a:r>
          </a:p>
          <a:p>
            <a:pPr algn="l">
              <a:lnSpc>
                <a:spcPts val="3835"/>
              </a:lnSpc>
            </a:pPr>
            <a:r>
              <a:rPr lang="en-US" sz="2739" b="1" dirty="0">
                <a:solidFill>
                  <a:srgbClr val="000000"/>
                </a:solidFill>
                <a:latin typeface="Canva Sans Bold"/>
                <a:ea typeface="Canva Sans Bold"/>
                <a:cs typeface="Canva Sans Bold"/>
                <a:sym typeface="Canva Sans Bold"/>
              </a:rPr>
              <a:t> – Data analysis using Excel (Pivot Tables + Charts)</a:t>
            </a:r>
          </a:p>
        </p:txBody>
      </p:sp>
      <p:sp>
        <p:nvSpPr>
          <p:cNvPr id="42" name="TextBox 42">
            <a:extLst>
              <a:ext uri="{FF2B5EF4-FFF2-40B4-BE49-F238E27FC236}">
                <a16:creationId xmlns:a16="http://schemas.microsoft.com/office/drawing/2014/main" id="{9CECF519-E418-BD3C-A52A-7B0CF347D64B}"/>
              </a:ext>
            </a:extLst>
          </p:cNvPr>
          <p:cNvSpPr txBox="1"/>
          <p:nvPr/>
        </p:nvSpPr>
        <p:spPr>
          <a:xfrm>
            <a:off x="6117254" y="2266524"/>
            <a:ext cx="8113832" cy="828040"/>
          </a:xfrm>
          <a:prstGeom prst="rect">
            <a:avLst/>
          </a:prstGeom>
        </p:spPr>
        <p:txBody>
          <a:bodyPr lIns="0" tIns="0" rIns="0" bIns="0" rtlCol="0" anchor="t">
            <a:spAutoFit/>
          </a:bodyPr>
          <a:lstStyle/>
          <a:p>
            <a:pPr algn="ctr">
              <a:lnSpc>
                <a:spcPts val="6860"/>
              </a:lnSpc>
            </a:pPr>
            <a:r>
              <a:rPr lang="en-US" sz="4900" b="1" dirty="0">
                <a:solidFill>
                  <a:srgbClr val="000000"/>
                </a:solidFill>
                <a:latin typeface="Canva Sans Bold"/>
                <a:ea typeface="Canva Sans Bold"/>
                <a:cs typeface="Canva Sans Bold"/>
                <a:sym typeface="Canva Sans Bold"/>
              </a:rPr>
              <a:t>Farah Magdy </a:t>
            </a:r>
          </a:p>
        </p:txBody>
      </p:sp>
      <p:pic>
        <p:nvPicPr>
          <p:cNvPr id="44" name="Picture 43">
            <a:extLst>
              <a:ext uri="{FF2B5EF4-FFF2-40B4-BE49-F238E27FC236}">
                <a16:creationId xmlns:a16="http://schemas.microsoft.com/office/drawing/2014/main" id="{88704FAE-16CB-3E4F-15BC-89F503EE4DDD}"/>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8962442"/>
            <a:ext cx="1324558" cy="1324558"/>
          </a:xfrm>
          <a:prstGeom prst="rect">
            <a:avLst/>
          </a:prstGeom>
        </p:spPr>
      </p:pic>
      <p:pic>
        <p:nvPicPr>
          <p:cNvPr id="5" name="Picture 4">
            <a:extLst>
              <a:ext uri="{FF2B5EF4-FFF2-40B4-BE49-F238E27FC236}">
                <a16:creationId xmlns:a16="http://schemas.microsoft.com/office/drawing/2014/main" id="{1468117A-8EED-9BD4-3158-FA7A6C2081C7}"/>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27401" t="2647" r="30140" b="52551"/>
          <a:stretch>
            <a:fillRect/>
          </a:stretch>
        </p:blipFill>
        <p:spPr>
          <a:xfrm>
            <a:off x="1210422" y="3726435"/>
            <a:ext cx="2826000" cy="2826000"/>
          </a:xfrm>
          <a:prstGeom prst="ellipse">
            <a:avLst/>
          </a:prstGeom>
        </p:spPr>
      </p:pic>
    </p:spTree>
    <p:extLst>
      <p:ext uri="{BB962C8B-B14F-4D97-AF65-F5344CB8AC3E}">
        <p14:creationId xmlns:p14="http://schemas.microsoft.com/office/powerpoint/2010/main" val="3586304564"/>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634086D-0CF9-E650-C286-86665DD1609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A1530DA-86AE-5B57-2CCA-CE3CEE28E4D9}"/>
              </a:ext>
            </a:extLst>
          </p:cNvPr>
          <p:cNvSpPr/>
          <p:nvPr/>
        </p:nvSpPr>
        <p:spPr>
          <a:xfrm>
            <a:off x="0" y="-1945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a:extLst>
              <a:ext uri="{FF2B5EF4-FFF2-40B4-BE49-F238E27FC236}">
                <a16:creationId xmlns:a16="http://schemas.microsoft.com/office/drawing/2014/main" id="{87C08990-6F4F-6CCF-D0EF-B014AAF13044}"/>
              </a:ext>
            </a:extLst>
          </p:cNvPr>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a:extLst>
              <a:ext uri="{FF2B5EF4-FFF2-40B4-BE49-F238E27FC236}">
                <a16:creationId xmlns:a16="http://schemas.microsoft.com/office/drawing/2014/main" id="{6DD61541-E04E-AADB-70AE-846B878CCB4B}"/>
              </a:ext>
            </a:extLst>
          </p:cNvPr>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a:extLst>
              <a:ext uri="{FF2B5EF4-FFF2-40B4-BE49-F238E27FC236}">
                <a16:creationId xmlns:a16="http://schemas.microsoft.com/office/drawing/2014/main" id="{920A030A-9D11-BE7A-A331-64F935845644}"/>
              </a:ext>
            </a:extLst>
          </p:cNvPr>
          <p:cNvGrpSpPr/>
          <p:nvPr/>
        </p:nvGrpSpPr>
        <p:grpSpPr>
          <a:xfrm>
            <a:off x="579906" y="1689812"/>
            <a:ext cx="17022707" cy="7568488"/>
            <a:chOff x="0" y="0"/>
            <a:chExt cx="5798675" cy="2578157"/>
          </a:xfrm>
        </p:grpSpPr>
        <p:sp>
          <p:nvSpPr>
            <p:cNvPr id="7" name="Freeform 7">
              <a:extLst>
                <a:ext uri="{FF2B5EF4-FFF2-40B4-BE49-F238E27FC236}">
                  <a16:creationId xmlns:a16="http://schemas.microsoft.com/office/drawing/2014/main" id="{09E3045E-CE81-A1D3-344E-1C9077576FE6}"/>
                </a:ext>
              </a:extLst>
            </p:cNvPr>
            <p:cNvSpPr/>
            <p:nvPr/>
          </p:nvSpPr>
          <p:spPr>
            <a:xfrm>
              <a:off x="0" y="0"/>
              <a:ext cx="5798676" cy="2578157"/>
            </a:xfrm>
            <a:custGeom>
              <a:avLst/>
              <a:gdLst/>
              <a:ahLst/>
              <a:cxnLst/>
              <a:rect l="l" t="t" r="r" b="b"/>
              <a:pathLst>
                <a:path w="5798676" h="2578157">
                  <a:moveTo>
                    <a:pt x="23195" y="0"/>
                  </a:moveTo>
                  <a:lnTo>
                    <a:pt x="5775481" y="0"/>
                  </a:lnTo>
                  <a:cubicBezTo>
                    <a:pt x="5781632" y="0"/>
                    <a:pt x="5787532" y="2444"/>
                    <a:pt x="5791882" y="6794"/>
                  </a:cubicBezTo>
                  <a:cubicBezTo>
                    <a:pt x="5796232" y="11143"/>
                    <a:pt x="5798676" y="17043"/>
                    <a:pt x="5798676" y="23195"/>
                  </a:cubicBezTo>
                  <a:lnTo>
                    <a:pt x="5798676" y="2554962"/>
                  </a:lnTo>
                  <a:cubicBezTo>
                    <a:pt x="5798676" y="2561113"/>
                    <a:pt x="5796232" y="2567013"/>
                    <a:pt x="5791882" y="2571363"/>
                  </a:cubicBezTo>
                  <a:cubicBezTo>
                    <a:pt x="5787532" y="2575713"/>
                    <a:pt x="5781632" y="2578157"/>
                    <a:pt x="5775481" y="2578157"/>
                  </a:cubicBezTo>
                  <a:lnTo>
                    <a:pt x="23195" y="2578157"/>
                  </a:lnTo>
                  <a:cubicBezTo>
                    <a:pt x="17043" y="2578157"/>
                    <a:pt x="11143" y="2575713"/>
                    <a:pt x="6794" y="2571363"/>
                  </a:cubicBezTo>
                  <a:cubicBezTo>
                    <a:pt x="2444" y="2567013"/>
                    <a:pt x="0" y="2561113"/>
                    <a:pt x="0" y="2554962"/>
                  </a:cubicBezTo>
                  <a:lnTo>
                    <a:pt x="0" y="23195"/>
                  </a:lnTo>
                  <a:cubicBezTo>
                    <a:pt x="0" y="17043"/>
                    <a:pt x="2444" y="11143"/>
                    <a:pt x="6794" y="6794"/>
                  </a:cubicBezTo>
                  <a:cubicBezTo>
                    <a:pt x="11143" y="2444"/>
                    <a:pt x="17043" y="0"/>
                    <a:pt x="23195" y="0"/>
                  </a:cubicBezTo>
                  <a:close/>
                </a:path>
              </a:pathLst>
            </a:custGeom>
            <a:solidFill>
              <a:srgbClr val="84E4A8"/>
            </a:solidFill>
          </p:spPr>
          <p:txBody>
            <a:bodyPr/>
            <a:lstStyle/>
            <a:p>
              <a:endParaRPr lang="en-US"/>
            </a:p>
          </p:txBody>
        </p:sp>
        <p:sp>
          <p:nvSpPr>
            <p:cNvPr id="8" name="TextBox 8">
              <a:extLst>
                <a:ext uri="{FF2B5EF4-FFF2-40B4-BE49-F238E27FC236}">
                  <a16:creationId xmlns:a16="http://schemas.microsoft.com/office/drawing/2014/main" id="{99216965-5FE2-8CC6-F9D1-C4934607A017}"/>
                </a:ext>
              </a:extLst>
            </p:cNvPr>
            <p:cNvSpPr txBox="1"/>
            <p:nvPr/>
          </p:nvSpPr>
          <p:spPr>
            <a:xfrm>
              <a:off x="0" y="-38100"/>
              <a:ext cx="5798675" cy="2616257"/>
            </a:xfrm>
            <a:prstGeom prst="rect">
              <a:avLst/>
            </a:prstGeom>
          </p:spPr>
          <p:txBody>
            <a:bodyPr lIns="39277" tIns="39277" rIns="39277" bIns="39277" rtlCol="0" anchor="ctr"/>
            <a:lstStyle/>
            <a:p>
              <a:pPr algn="ctr">
                <a:lnSpc>
                  <a:spcPts val="2879"/>
                </a:lnSpc>
              </a:pPr>
              <a:endParaRPr/>
            </a:p>
          </p:txBody>
        </p:sp>
      </p:grpSp>
      <p:grpSp>
        <p:nvGrpSpPr>
          <p:cNvPr id="9" name="Group 9">
            <a:extLst>
              <a:ext uri="{FF2B5EF4-FFF2-40B4-BE49-F238E27FC236}">
                <a16:creationId xmlns:a16="http://schemas.microsoft.com/office/drawing/2014/main" id="{08CA34B3-37DC-CC45-19AF-9E0DF056FFB5}"/>
              </a:ext>
            </a:extLst>
          </p:cNvPr>
          <p:cNvGrpSpPr/>
          <p:nvPr/>
        </p:nvGrpSpPr>
        <p:grpSpPr>
          <a:xfrm>
            <a:off x="1028700" y="2079956"/>
            <a:ext cx="2580660" cy="6892743"/>
            <a:chOff x="0" y="0"/>
            <a:chExt cx="679680" cy="1815373"/>
          </a:xfrm>
        </p:grpSpPr>
        <p:sp>
          <p:nvSpPr>
            <p:cNvPr id="10" name="Freeform 10">
              <a:extLst>
                <a:ext uri="{FF2B5EF4-FFF2-40B4-BE49-F238E27FC236}">
                  <a16:creationId xmlns:a16="http://schemas.microsoft.com/office/drawing/2014/main" id="{9103787F-6D3B-27B9-07A5-603BFE2036C8}"/>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1" name="TextBox 11">
              <a:extLst>
                <a:ext uri="{FF2B5EF4-FFF2-40B4-BE49-F238E27FC236}">
                  <a16:creationId xmlns:a16="http://schemas.microsoft.com/office/drawing/2014/main" id="{1240B074-8243-220A-5685-EF968F5A920A}"/>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2" name="Group 12">
            <a:extLst>
              <a:ext uri="{FF2B5EF4-FFF2-40B4-BE49-F238E27FC236}">
                <a16:creationId xmlns:a16="http://schemas.microsoft.com/office/drawing/2014/main" id="{04B46C55-9AF2-5159-E8F0-F2D7E3263338}"/>
              </a:ext>
            </a:extLst>
          </p:cNvPr>
          <p:cNvGrpSpPr/>
          <p:nvPr/>
        </p:nvGrpSpPr>
        <p:grpSpPr>
          <a:xfrm>
            <a:off x="1048764" y="3873234"/>
            <a:ext cx="2540533" cy="2540533"/>
            <a:chOff x="0" y="0"/>
            <a:chExt cx="6350000" cy="6350000"/>
          </a:xfrm>
        </p:grpSpPr>
        <p:sp>
          <p:nvSpPr>
            <p:cNvPr id="13" name="Freeform 13">
              <a:extLst>
                <a:ext uri="{FF2B5EF4-FFF2-40B4-BE49-F238E27FC236}">
                  <a16:creationId xmlns:a16="http://schemas.microsoft.com/office/drawing/2014/main" id="{1C7DA507-8232-1D05-2059-196A090F75D7}"/>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t="-25000" b="-25000"/>
              </a:stretch>
            </a:blipFill>
          </p:spPr>
          <p:txBody>
            <a:bodyPr/>
            <a:lstStyle/>
            <a:p>
              <a:endParaRPr lang="en-US"/>
            </a:p>
          </p:txBody>
        </p:sp>
      </p:grpSp>
      <p:sp>
        <p:nvSpPr>
          <p:cNvPr id="14" name="TextBox 14">
            <a:extLst>
              <a:ext uri="{FF2B5EF4-FFF2-40B4-BE49-F238E27FC236}">
                <a16:creationId xmlns:a16="http://schemas.microsoft.com/office/drawing/2014/main" id="{E3B39375-C036-A83E-716B-F0F85D8E69D9}"/>
              </a:ext>
            </a:extLst>
          </p:cNvPr>
          <p:cNvSpPr txBox="1"/>
          <p:nvPr/>
        </p:nvSpPr>
        <p:spPr>
          <a:xfrm>
            <a:off x="5402536" y="681423"/>
            <a:ext cx="7377446" cy="770535"/>
          </a:xfrm>
          <a:prstGeom prst="rect">
            <a:avLst/>
          </a:prstGeom>
        </p:spPr>
        <p:txBody>
          <a:bodyPr lIns="0" tIns="0" rIns="0" bIns="0" rtlCol="0" anchor="t">
            <a:spAutoFit/>
          </a:bodyPr>
          <a:lstStyle/>
          <a:p>
            <a:pPr algn="ctr">
              <a:lnSpc>
                <a:spcPts val="6354"/>
              </a:lnSpc>
            </a:pPr>
            <a:r>
              <a:rPr lang="en-US" sz="4538" b="1">
                <a:solidFill>
                  <a:srgbClr val="336EA8"/>
                </a:solidFill>
                <a:latin typeface="Canva Sans Bold"/>
                <a:ea typeface="Canva Sans Bold"/>
                <a:cs typeface="Canva Sans Bold"/>
                <a:sym typeface="Canva Sans Bold"/>
              </a:rPr>
              <a:t>Project Team + Roles</a:t>
            </a:r>
          </a:p>
        </p:txBody>
      </p:sp>
      <p:grpSp>
        <p:nvGrpSpPr>
          <p:cNvPr id="15" name="Group 15">
            <a:extLst>
              <a:ext uri="{FF2B5EF4-FFF2-40B4-BE49-F238E27FC236}">
                <a16:creationId xmlns:a16="http://schemas.microsoft.com/office/drawing/2014/main" id="{8FFAA63B-3309-F38F-F583-989841175245}"/>
              </a:ext>
            </a:extLst>
          </p:cNvPr>
          <p:cNvGrpSpPr/>
          <p:nvPr/>
        </p:nvGrpSpPr>
        <p:grpSpPr>
          <a:xfrm>
            <a:off x="1048764" y="2027684"/>
            <a:ext cx="2580660" cy="6892743"/>
            <a:chOff x="0" y="0"/>
            <a:chExt cx="679680" cy="1815373"/>
          </a:xfrm>
        </p:grpSpPr>
        <p:sp>
          <p:nvSpPr>
            <p:cNvPr id="16" name="Freeform 16">
              <a:extLst>
                <a:ext uri="{FF2B5EF4-FFF2-40B4-BE49-F238E27FC236}">
                  <a16:creationId xmlns:a16="http://schemas.microsoft.com/office/drawing/2014/main" id="{8A8CAF43-28F5-6EEA-4416-F58444BE9CCC}"/>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7" name="TextBox 17">
              <a:extLst>
                <a:ext uri="{FF2B5EF4-FFF2-40B4-BE49-F238E27FC236}">
                  <a16:creationId xmlns:a16="http://schemas.microsoft.com/office/drawing/2014/main" id="{26E44619-D7E8-9B88-42D8-52897BCB3C37}"/>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8" name="Group 18">
            <a:extLst>
              <a:ext uri="{FF2B5EF4-FFF2-40B4-BE49-F238E27FC236}">
                <a16:creationId xmlns:a16="http://schemas.microsoft.com/office/drawing/2014/main" id="{F383E146-832D-669A-8629-8BD3BA03F729}"/>
              </a:ext>
            </a:extLst>
          </p:cNvPr>
          <p:cNvGrpSpPr/>
          <p:nvPr/>
        </p:nvGrpSpPr>
        <p:grpSpPr>
          <a:xfrm>
            <a:off x="1027031" y="3873234"/>
            <a:ext cx="2540533" cy="2540533"/>
            <a:chOff x="0" y="0"/>
            <a:chExt cx="6350000" cy="6350000"/>
          </a:xfrm>
        </p:grpSpPr>
        <p:sp>
          <p:nvSpPr>
            <p:cNvPr id="19" name="Freeform 19">
              <a:extLst>
                <a:ext uri="{FF2B5EF4-FFF2-40B4-BE49-F238E27FC236}">
                  <a16:creationId xmlns:a16="http://schemas.microsoft.com/office/drawing/2014/main" id="{7957804E-BA7E-3A46-D96D-DE5FD1E1E3F8}"/>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7"/>
              <a:stretch>
                <a:fillRect t="-16747" b="-16747"/>
              </a:stretch>
            </a:blipFill>
          </p:spPr>
          <p:txBody>
            <a:bodyPr/>
            <a:lstStyle/>
            <a:p>
              <a:endParaRPr lang="en-US"/>
            </a:p>
          </p:txBody>
        </p:sp>
      </p:grpSp>
      <p:grpSp>
        <p:nvGrpSpPr>
          <p:cNvPr id="20" name="Group 20">
            <a:extLst>
              <a:ext uri="{FF2B5EF4-FFF2-40B4-BE49-F238E27FC236}">
                <a16:creationId xmlns:a16="http://schemas.microsoft.com/office/drawing/2014/main" id="{14C0E842-9141-149A-FA24-0B39491D0681}"/>
              </a:ext>
            </a:extLst>
          </p:cNvPr>
          <p:cNvGrpSpPr/>
          <p:nvPr/>
        </p:nvGrpSpPr>
        <p:grpSpPr>
          <a:xfrm>
            <a:off x="1084293" y="2027684"/>
            <a:ext cx="2580660" cy="6892743"/>
            <a:chOff x="0" y="0"/>
            <a:chExt cx="679680" cy="1815373"/>
          </a:xfrm>
        </p:grpSpPr>
        <p:sp>
          <p:nvSpPr>
            <p:cNvPr id="21" name="Freeform 21">
              <a:extLst>
                <a:ext uri="{FF2B5EF4-FFF2-40B4-BE49-F238E27FC236}">
                  <a16:creationId xmlns:a16="http://schemas.microsoft.com/office/drawing/2014/main" id="{32ED0BC8-3AA9-E858-7250-14CBA27FDDD3}"/>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2" name="TextBox 22">
              <a:extLst>
                <a:ext uri="{FF2B5EF4-FFF2-40B4-BE49-F238E27FC236}">
                  <a16:creationId xmlns:a16="http://schemas.microsoft.com/office/drawing/2014/main" id="{036D03EE-1559-9D5F-026D-D90000E3D57F}"/>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3" name="Group 23">
            <a:extLst>
              <a:ext uri="{FF2B5EF4-FFF2-40B4-BE49-F238E27FC236}">
                <a16:creationId xmlns:a16="http://schemas.microsoft.com/office/drawing/2014/main" id="{B2C2ECB1-29FC-B85A-9559-938ABC369521}"/>
              </a:ext>
            </a:extLst>
          </p:cNvPr>
          <p:cNvGrpSpPr/>
          <p:nvPr/>
        </p:nvGrpSpPr>
        <p:grpSpPr>
          <a:xfrm>
            <a:off x="1124421" y="3873234"/>
            <a:ext cx="2540533" cy="2540533"/>
            <a:chOff x="0" y="0"/>
            <a:chExt cx="6350000" cy="6350000"/>
          </a:xfrm>
        </p:grpSpPr>
        <p:sp>
          <p:nvSpPr>
            <p:cNvPr id="24" name="Freeform 24">
              <a:extLst>
                <a:ext uri="{FF2B5EF4-FFF2-40B4-BE49-F238E27FC236}">
                  <a16:creationId xmlns:a16="http://schemas.microsoft.com/office/drawing/2014/main" id="{E8C300C9-BA0D-C7CE-AE09-FDBF86FC85C8}"/>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8"/>
              <a:stretch>
                <a:fillRect t="-31120" b="-31120"/>
              </a:stretch>
            </a:blipFill>
          </p:spPr>
          <p:txBody>
            <a:bodyPr/>
            <a:lstStyle/>
            <a:p>
              <a:endParaRPr lang="en-US"/>
            </a:p>
          </p:txBody>
        </p:sp>
      </p:grpSp>
      <p:grpSp>
        <p:nvGrpSpPr>
          <p:cNvPr id="25" name="Group 25">
            <a:extLst>
              <a:ext uri="{FF2B5EF4-FFF2-40B4-BE49-F238E27FC236}">
                <a16:creationId xmlns:a16="http://schemas.microsoft.com/office/drawing/2014/main" id="{421A48D1-ACC3-0EAD-87EF-EB5EB9D5BD12}"/>
              </a:ext>
            </a:extLst>
          </p:cNvPr>
          <p:cNvGrpSpPr/>
          <p:nvPr/>
        </p:nvGrpSpPr>
        <p:grpSpPr>
          <a:xfrm>
            <a:off x="1048764" y="2079956"/>
            <a:ext cx="2580660" cy="6892743"/>
            <a:chOff x="0" y="0"/>
            <a:chExt cx="679680" cy="1815373"/>
          </a:xfrm>
        </p:grpSpPr>
        <p:sp>
          <p:nvSpPr>
            <p:cNvPr id="26" name="Freeform 26">
              <a:extLst>
                <a:ext uri="{FF2B5EF4-FFF2-40B4-BE49-F238E27FC236}">
                  <a16:creationId xmlns:a16="http://schemas.microsoft.com/office/drawing/2014/main" id="{2A07E0CA-02E0-E346-16FC-4233E572A1DA}"/>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7" name="TextBox 27">
              <a:extLst>
                <a:ext uri="{FF2B5EF4-FFF2-40B4-BE49-F238E27FC236}">
                  <a16:creationId xmlns:a16="http://schemas.microsoft.com/office/drawing/2014/main" id="{481087E8-CFBD-1F02-B98E-4B75268A3BED}"/>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8" name="Group 28">
            <a:extLst>
              <a:ext uri="{FF2B5EF4-FFF2-40B4-BE49-F238E27FC236}">
                <a16:creationId xmlns:a16="http://schemas.microsoft.com/office/drawing/2014/main" id="{AAA614CB-0B1A-F456-BE64-6DDBBAE7F196}"/>
              </a:ext>
            </a:extLst>
          </p:cNvPr>
          <p:cNvGrpSpPr/>
          <p:nvPr/>
        </p:nvGrpSpPr>
        <p:grpSpPr>
          <a:xfrm>
            <a:off x="1084293" y="3873234"/>
            <a:ext cx="2540533" cy="2540533"/>
            <a:chOff x="0" y="0"/>
            <a:chExt cx="6350000" cy="6350000"/>
          </a:xfrm>
        </p:grpSpPr>
        <p:sp>
          <p:nvSpPr>
            <p:cNvPr id="29" name="Freeform 29">
              <a:extLst>
                <a:ext uri="{FF2B5EF4-FFF2-40B4-BE49-F238E27FC236}">
                  <a16:creationId xmlns:a16="http://schemas.microsoft.com/office/drawing/2014/main" id="{67153FEF-A556-F7D7-AB9B-AA6C24118F60}"/>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9"/>
              <a:stretch>
                <a:fillRect t="-16666" b="-16666"/>
              </a:stretch>
            </a:blipFill>
          </p:spPr>
          <p:txBody>
            <a:bodyPr/>
            <a:lstStyle/>
            <a:p>
              <a:endParaRPr lang="en-US"/>
            </a:p>
          </p:txBody>
        </p:sp>
      </p:grpSp>
      <p:grpSp>
        <p:nvGrpSpPr>
          <p:cNvPr id="30" name="Group 30">
            <a:extLst>
              <a:ext uri="{FF2B5EF4-FFF2-40B4-BE49-F238E27FC236}">
                <a16:creationId xmlns:a16="http://schemas.microsoft.com/office/drawing/2014/main" id="{1B57606B-40EE-FDEB-D282-18331CE9FC14}"/>
              </a:ext>
            </a:extLst>
          </p:cNvPr>
          <p:cNvGrpSpPr/>
          <p:nvPr/>
        </p:nvGrpSpPr>
        <p:grpSpPr>
          <a:xfrm>
            <a:off x="1060480" y="2079956"/>
            <a:ext cx="2588158" cy="6892743"/>
            <a:chOff x="0" y="0"/>
            <a:chExt cx="3450877" cy="9190325"/>
          </a:xfrm>
        </p:grpSpPr>
        <p:grpSp>
          <p:nvGrpSpPr>
            <p:cNvPr id="31" name="Group 31">
              <a:extLst>
                <a:ext uri="{FF2B5EF4-FFF2-40B4-BE49-F238E27FC236}">
                  <a16:creationId xmlns:a16="http://schemas.microsoft.com/office/drawing/2014/main" id="{C51F8B8A-3B8B-4262-DB90-E4854D6B5184}"/>
                </a:ext>
              </a:extLst>
            </p:cNvPr>
            <p:cNvGrpSpPr/>
            <p:nvPr/>
          </p:nvGrpSpPr>
          <p:grpSpPr>
            <a:xfrm>
              <a:off x="0" y="0"/>
              <a:ext cx="3440880" cy="9190325"/>
              <a:chOff x="0" y="0"/>
              <a:chExt cx="679680" cy="1815373"/>
            </a:xfrm>
          </p:grpSpPr>
          <p:sp>
            <p:nvSpPr>
              <p:cNvPr id="32" name="Freeform 32">
                <a:extLst>
                  <a:ext uri="{FF2B5EF4-FFF2-40B4-BE49-F238E27FC236}">
                    <a16:creationId xmlns:a16="http://schemas.microsoft.com/office/drawing/2014/main" id="{F12E086F-856A-DFFC-CF37-AD9FFFCCCEC3}"/>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33" name="TextBox 33">
                <a:extLst>
                  <a:ext uri="{FF2B5EF4-FFF2-40B4-BE49-F238E27FC236}">
                    <a16:creationId xmlns:a16="http://schemas.microsoft.com/office/drawing/2014/main" id="{02123954-7876-0ACC-F218-DAD8884ABCB8}"/>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34" name="Group 34">
              <a:extLst>
                <a:ext uri="{FF2B5EF4-FFF2-40B4-BE49-F238E27FC236}">
                  <a16:creationId xmlns:a16="http://schemas.microsoft.com/office/drawing/2014/main" id="{C7FFF68C-61DB-3784-7C32-1105CBBC1823}"/>
                </a:ext>
              </a:extLst>
            </p:cNvPr>
            <p:cNvGrpSpPr/>
            <p:nvPr/>
          </p:nvGrpSpPr>
          <p:grpSpPr>
            <a:xfrm>
              <a:off x="63500" y="2391038"/>
              <a:ext cx="3387377" cy="3387377"/>
              <a:chOff x="0" y="0"/>
              <a:chExt cx="6350000" cy="6350000"/>
            </a:xfrm>
          </p:grpSpPr>
          <p:sp>
            <p:nvSpPr>
              <p:cNvPr id="35" name="Freeform 35">
                <a:extLst>
                  <a:ext uri="{FF2B5EF4-FFF2-40B4-BE49-F238E27FC236}">
                    <a16:creationId xmlns:a16="http://schemas.microsoft.com/office/drawing/2014/main" id="{E34369EF-58B9-997C-C4CD-53BD190BC325}"/>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10"/>
                <a:stretch>
                  <a:fillRect l="-38888" r="-38888"/>
                </a:stretch>
              </a:blipFill>
            </p:spPr>
            <p:txBody>
              <a:bodyPr/>
              <a:lstStyle/>
              <a:p>
                <a:endParaRPr lang="en-US"/>
              </a:p>
            </p:txBody>
          </p:sp>
        </p:grpSp>
      </p:grpSp>
      <p:grpSp>
        <p:nvGrpSpPr>
          <p:cNvPr id="36" name="Group 36">
            <a:extLst>
              <a:ext uri="{FF2B5EF4-FFF2-40B4-BE49-F238E27FC236}">
                <a16:creationId xmlns:a16="http://schemas.microsoft.com/office/drawing/2014/main" id="{1A9A1A14-BDAF-C356-5F42-B5AB962FD362}"/>
              </a:ext>
            </a:extLst>
          </p:cNvPr>
          <p:cNvGrpSpPr/>
          <p:nvPr/>
        </p:nvGrpSpPr>
        <p:grpSpPr>
          <a:xfrm>
            <a:off x="986904" y="2027684"/>
            <a:ext cx="16272396" cy="6945015"/>
            <a:chOff x="0" y="0"/>
            <a:chExt cx="4285734" cy="1829140"/>
          </a:xfrm>
        </p:grpSpPr>
        <p:sp>
          <p:nvSpPr>
            <p:cNvPr id="37" name="Freeform 37">
              <a:extLst>
                <a:ext uri="{FF2B5EF4-FFF2-40B4-BE49-F238E27FC236}">
                  <a16:creationId xmlns:a16="http://schemas.microsoft.com/office/drawing/2014/main" id="{635EE5C1-70CA-F0BE-4EFC-D34126FAEF57}"/>
                </a:ext>
              </a:extLst>
            </p:cNvPr>
            <p:cNvSpPr/>
            <p:nvPr/>
          </p:nvSpPr>
          <p:spPr>
            <a:xfrm>
              <a:off x="0" y="0"/>
              <a:ext cx="4285734" cy="1829140"/>
            </a:xfrm>
            <a:custGeom>
              <a:avLst/>
              <a:gdLst/>
              <a:ahLst/>
              <a:cxnLst/>
              <a:rect l="l" t="t" r="r" b="b"/>
              <a:pathLst>
                <a:path w="4285734" h="1829140">
                  <a:moveTo>
                    <a:pt x="24264" y="0"/>
                  </a:moveTo>
                  <a:lnTo>
                    <a:pt x="4261470" y="0"/>
                  </a:lnTo>
                  <a:cubicBezTo>
                    <a:pt x="4274871" y="0"/>
                    <a:pt x="4285734" y="10863"/>
                    <a:pt x="4285734" y="24264"/>
                  </a:cubicBezTo>
                  <a:lnTo>
                    <a:pt x="4285734" y="1804875"/>
                  </a:lnTo>
                  <a:cubicBezTo>
                    <a:pt x="4285734" y="1811311"/>
                    <a:pt x="4283178" y="1817482"/>
                    <a:pt x="4278627" y="1822033"/>
                  </a:cubicBezTo>
                  <a:cubicBezTo>
                    <a:pt x="4274077" y="1826583"/>
                    <a:pt x="4267905" y="1829140"/>
                    <a:pt x="4261470" y="1829140"/>
                  </a:cubicBezTo>
                  <a:lnTo>
                    <a:pt x="24264" y="1829140"/>
                  </a:lnTo>
                  <a:cubicBezTo>
                    <a:pt x="10863" y="1829140"/>
                    <a:pt x="0" y="1818276"/>
                    <a:pt x="0" y="1804875"/>
                  </a:cubicBezTo>
                  <a:lnTo>
                    <a:pt x="0" y="24264"/>
                  </a:lnTo>
                  <a:cubicBezTo>
                    <a:pt x="0" y="17829"/>
                    <a:pt x="2556" y="11657"/>
                    <a:pt x="7107" y="7107"/>
                  </a:cubicBezTo>
                  <a:cubicBezTo>
                    <a:pt x="11657" y="2556"/>
                    <a:pt x="17829" y="0"/>
                    <a:pt x="24264" y="0"/>
                  </a:cubicBezTo>
                  <a:close/>
                </a:path>
              </a:pathLst>
            </a:custGeom>
            <a:solidFill>
              <a:srgbClr val="336EA8"/>
            </a:solidFill>
          </p:spPr>
          <p:txBody>
            <a:bodyPr/>
            <a:lstStyle/>
            <a:p>
              <a:endParaRPr lang="en-US" dirty="0"/>
            </a:p>
          </p:txBody>
        </p:sp>
        <p:sp>
          <p:nvSpPr>
            <p:cNvPr id="38" name="TextBox 38">
              <a:extLst>
                <a:ext uri="{FF2B5EF4-FFF2-40B4-BE49-F238E27FC236}">
                  <a16:creationId xmlns:a16="http://schemas.microsoft.com/office/drawing/2014/main" id="{CCBAEBC3-7345-D40A-9AD5-F8B6CFD3593F}"/>
                </a:ext>
              </a:extLst>
            </p:cNvPr>
            <p:cNvSpPr txBox="1"/>
            <p:nvPr/>
          </p:nvSpPr>
          <p:spPr>
            <a:xfrm>
              <a:off x="0" y="-38100"/>
              <a:ext cx="4285734" cy="1867240"/>
            </a:xfrm>
            <a:prstGeom prst="rect">
              <a:avLst/>
            </a:prstGeom>
          </p:spPr>
          <p:txBody>
            <a:bodyPr lIns="50800" tIns="50800" rIns="50800" bIns="50800" rtlCol="0" anchor="ctr"/>
            <a:lstStyle/>
            <a:p>
              <a:pPr algn="ctr">
                <a:lnSpc>
                  <a:spcPts val="2879"/>
                </a:lnSpc>
              </a:pPr>
              <a:endParaRPr/>
            </a:p>
          </p:txBody>
        </p:sp>
      </p:grpSp>
      <p:sp>
        <p:nvSpPr>
          <p:cNvPr id="41" name="TextBox 41">
            <a:extLst>
              <a:ext uri="{FF2B5EF4-FFF2-40B4-BE49-F238E27FC236}">
                <a16:creationId xmlns:a16="http://schemas.microsoft.com/office/drawing/2014/main" id="{371CE67B-5805-6F0E-EA10-15FBC06B4596}"/>
              </a:ext>
            </a:extLst>
          </p:cNvPr>
          <p:cNvSpPr txBox="1"/>
          <p:nvPr/>
        </p:nvSpPr>
        <p:spPr>
          <a:xfrm>
            <a:off x="4272352" y="3333404"/>
            <a:ext cx="12758348" cy="5329279"/>
          </a:xfrm>
          <a:prstGeom prst="rect">
            <a:avLst/>
          </a:prstGeom>
        </p:spPr>
        <p:txBody>
          <a:bodyPr lIns="0" tIns="0" rIns="0" bIns="0" rtlCol="0" anchor="t">
            <a:spAutoFit/>
          </a:bodyPr>
          <a:lstStyle/>
          <a:p>
            <a:pPr algn="ctr">
              <a:lnSpc>
                <a:spcPts val="3835"/>
              </a:lnSpc>
            </a:pPr>
            <a:r>
              <a:rPr lang="en-US" sz="2739" b="1" dirty="0">
                <a:solidFill>
                  <a:srgbClr val="000000"/>
                </a:solidFill>
                <a:latin typeface="Canva Sans Bold"/>
                <a:ea typeface="Canva Sans Bold"/>
                <a:cs typeface="Canva Sans Bold"/>
                <a:sym typeface="Canva Sans Bold"/>
              </a:rPr>
              <a:t>Introduction</a:t>
            </a:r>
          </a:p>
          <a:p>
            <a:pPr>
              <a:lnSpc>
                <a:spcPts val="3835"/>
              </a:lnSpc>
            </a:pPr>
            <a:r>
              <a:rPr lang="en-US" sz="2739" b="1" dirty="0">
                <a:solidFill>
                  <a:srgbClr val="000000"/>
                </a:solidFill>
                <a:latin typeface="Canva Sans Bold"/>
                <a:ea typeface="Canva Sans Bold"/>
                <a:cs typeface="Canva Sans Bold"/>
                <a:sym typeface="Canva Sans Bold"/>
              </a:rPr>
              <a:t>Mohamed Ahmed Abubakr, l’m 20 years old. Intelligent Systems Engineering student at Helwan National University (HNU) specializing in Data Analytics and Business Intelligence. Experienced in analyzing complex datasets and transforming them into clear, interactive visualizations using Power BI and Excel, enabling better understanding of data, uncovering hidden insights, and supporting strategic decision.</a:t>
            </a:r>
          </a:p>
          <a:p>
            <a:pPr algn="ctr">
              <a:lnSpc>
                <a:spcPts val="3835"/>
              </a:lnSpc>
            </a:pPr>
            <a:r>
              <a:rPr lang="en-US" sz="2739" b="1" dirty="0">
                <a:solidFill>
                  <a:srgbClr val="000000"/>
                </a:solidFill>
                <a:latin typeface="Canva Sans Bold"/>
                <a:ea typeface="Canva Sans Bold"/>
                <a:cs typeface="Canva Sans Bold"/>
                <a:sym typeface="Canva Sans Bold"/>
              </a:rPr>
              <a:t>Data Insights Specialist</a:t>
            </a:r>
          </a:p>
          <a:p>
            <a:pPr algn="l">
              <a:lnSpc>
                <a:spcPts val="3835"/>
              </a:lnSpc>
            </a:pPr>
            <a:r>
              <a:rPr lang="en-US" sz="2739" b="1" dirty="0">
                <a:solidFill>
                  <a:srgbClr val="000000"/>
                </a:solidFill>
                <a:latin typeface="Canva Sans Bold"/>
                <a:ea typeface="Canva Sans Bold"/>
                <a:cs typeface="Canva Sans Bold"/>
                <a:sym typeface="Canva Sans Bold"/>
              </a:rPr>
              <a:t> – Data analysis and insights generation </a:t>
            </a:r>
          </a:p>
          <a:p>
            <a:pPr algn="l">
              <a:lnSpc>
                <a:spcPts val="3835"/>
              </a:lnSpc>
            </a:pPr>
            <a:r>
              <a:rPr lang="en-US" sz="2739" b="1" dirty="0">
                <a:solidFill>
                  <a:srgbClr val="000000"/>
                </a:solidFill>
                <a:latin typeface="Canva Sans Bold"/>
                <a:ea typeface="Canva Sans Bold"/>
                <a:cs typeface="Canva Sans Bold"/>
                <a:sym typeface="Canva Sans Bold"/>
              </a:rPr>
              <a:t> – Supporting the team in extracting and refining final insights </a:t>
            </a:r>
          </a:p>
          <a:p>
            <a:pPr algn="l">
              <a:lnSpc>
                <a:spcPts val="3835"/>
              </a:lnSpc>
            </a:pPr>
            <a:r>
              <a:rPr lang="en-US" sz="2739" b="1" dirty="0">
                <a:solidFill>
                  <a:srgbClr val="000000"/>
                </a:solidFill>
                <a:latin typeface="Canva Sans Bold"/>
                <a:ea typeface="Canva Sans Bold"/>
                <a:cs typeface="Canva Sans Bold"/>
                <a:sym typeface="Canva Sans Bold"/>
              </a:rPr>
              <a:t> – Data analysis using Excel (Pivot Tables + Charts)</a:t>
            </a:r>
          </a:p>
        </p:txBody>
      </p:sp>
      <p:sp>
        <p:nvSpPr>
          <p:cNvPr id="42" name="TextBox 42">
            <a:extLst>
              <a:ext uri="{FF2B5EF4-FFF2-40B4-BE49-F238E27FC236}">
                <a16:creationId xmlns:a16="http://schemas.microsoft.com/office/drawing/2014/main" id="{49CA5D90-0659-E2D2-FD12-1237B6B70CC1}"/>
              </a:ext>
            </a:extLst>
          </p:cNvPr>
          <p:cNvSpPr txBox="1"/>
          <p:nvPr/>
        </p:nvSpPr>
        <p:spPr>
          <a:xfrm>
            <a:off x="6117254" y="2266524"/>
            <a:ext cx="8113832" cy="828040"/>
          </a:xfrm>
          <a:prstGeom prst="rect">
            <a:avLst/>
          </a:prstGeom>
        </p:spPr>
        <p:txBody>
          <a:bodyPr lIns="0" tIns="0" rIns="0" bIns="0" rtlCol="0" anchor="t">
            <a:spAutoFit/>
          </a:bodyPr>
          <a:lstStyle/>
          <a:p>
            <a:pPr algn="ctr">
              <a:lnSpc>
                <a:spcPts val="6860"/>
              </a:lnSpc>
            </a:pPr>
            <a:r>
              <a:rPr lang="en-US" sz="4900" b="1" dirty="0">
                <a:solidFill>
                  <a:srgbClr val="000000"/>
                </a:solidFill>
                <a:latin typeface="Canva Sans Bold"/>
                <a:ea typeface="Canva Sans Bold"/>
                <a:cs typeface="Canva Sans Bold"/>
                <a:sym typeface="Canva Sans Bold"/>
              </a:rPr>
              <a:t>Mohamed Ahmed</a:t>
            </a:r>
          </a:p>
        </p:txBody>
      </p:sp>
      <p:pic>
        <p:nvPicPr>
          <p:cNvPr id="44" name="Picture 43">
            <a:extLst>
              <a:ext uri="{FF2B5EF4-FFF2-40B4-BE49-F238E27FC236}">
                <a16:creationId xmlns:a16="http://schemas.microsoft.com/office/drawing/2014/main" id="{CCE4EC09-C96A-4A92-1DAA-FB7394677D5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8962442"/>
            <a:ext cx="1324558" cy="1324558"/>
          </a:xfrm>
          <a:prstGeom prst="rect">
            <a:avLst/>
          </a:prstGeom>
        </p:spPr>
      </p:pic>
      <p:pic>
        <p:nvPicPr>
          <p:cNvPr id="39" name="Picture 38">
            <a:extLst>
              <a:ext uri="{FF2B5EF4-FFF2-40B4-BE49-F238E27FC236}">
                <a16:creationId xmlns:a16="http://schemas.microsoft.com/office/drawing/2014/main" id="{175A2D6E-C815-BE51-1C73-0F742487E3FA}"/>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9199" t="9327" r="3579" b="25258"/>
          <a:stretch>
            <a:fillRect/>
          </a:stretch>
        </p:blipFill>
        <p:spPr>
          <a:xfrm>
            <a:off x="1144642" y="3677376"/>
            <a:ext cx="2826000" cy="2826000"/>
          </a:xfrm>
          <a:prstGeom prst="ellipse">
            <a:avLst/>
          </a:prstGeom>
        </p:spPr>
      </p:pic>
      <p:pic>
        <p:nvPicPr>
          <p:cNvPr id="43" name="Picture 42">
            <a:extLst>
              <a:ext uri="{FF2B5EF4-FFF2-40B4-BE49-F238E27FC236}">
                <a16:creationId xmlns:a16="http://schemas.microsoft.com/office/drawing/2014/main" id="{BD76C915-061A-746A-059B-F4519E1D38D4}"/>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4870702" y="6657691"/>
            <a:ext cx="2160000" cy="2160000"/>
          </a:xfrm>
          <a:prstGeom prst="rect">
            <a:avLst/>
          </a:prstGeom>
        </p:spPr>
      </p:pic>
    </p:spTree>
    <p:extLst>
      <p:ext uri="{BB962C8B-B14F-4D97-AF65-F5344CB8AC3E}">
        <p14:creationId xmlns:p14="http://schemas.microsoft.com/office/powerpoint/2010/main" val="2429649388"/>
      </p:ext>
    </p:extLst>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957</TotalTime>
  <Words>721</Words>
  <Application>Microsoft Office PowerPoint</Application>
  <PresentationFormat>Custom</PresentationFormat>
  <Paragraphs>125</Paragraphs>
  <Slides>14</Slides>
  <Notes>14</Notes>
  <HiddenSlides>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Canva Sans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DEPI Final Project. PPT Template.pptx</dc:title>
  <cp:lastModifiedBy>Mohamed Emad</cp:lastModifiedBy>
  <cp:revision>34</cp:revision>
  <dcterms:created xsi:type="dcterms:W3CDTF">2006-08-16T00:00:00Z</dcterms:created>
  <dcterms:modified xsi:type="dcterms:W3CDTF">2026-04-01T18:41:28Z</dcterms:modified>
  <dc:identifier>DAGm54yL8PU</dc:identifier>
</cp:coreProperties>
</file>